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sldIdLst>
    <p:sldId id="272" r:id="rId2"/>
    <p:sldId id="257" r:id="rId3"/>
    <p:sldId id="302" r:id="rId4"/>
    <p:sldId id="258" r:id="rId5"/>
    <p:sldId id="299" r:id="rId6"/>
    <p:sldId id="301" r:id="rId7"/>
    <p:sldId id="261" r:id="rId8"/>
    <p:sldId id="262" r:id="rId9"/>
    <p:sldId id="263" r:id="rId10"/>
    <p:sldId id="267" r:id="rId11"/>
    <p:sldId id="269" r:id="rId12"/>
    <p:sldId id="281" r:id="rId13"/>
    <p:sldId id="300" r:id="rId14"/>
    <p:sldId id="268" r:id="rId15"/>
    <p:sldId id="297" r:id="rId16"/>
  </p:sldIdLst>
  <p:sldSz cx="9144000" cy="5143500" type="screen16x9"/>
  <p:notesSz cx="6858000" cy="9144000"/>
  <p:embeddedFontLst>
    <p:embeddedFont>
      <p:font typeface="Assistant" pitchFamily="2" charset="-79"/>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6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72" autoAdjust="0"/>
  </p:normalViewPr>
  <p:slideViewPr>
    <p:cSldViewPr snapToGrid="0">
      <p:cViewPr varScale="1">
        <p:scale>
          <a:sx n="101" d="100"/>
          <a:sy n="101" d="100"/>
        </p:scale>
        <p:origin x="9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b56d264711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b56d264711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af83f1124d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af83f1124d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D4DD6650-9F44-C952-090C-5A17209A26F1}"/>
            </a:ext>
          </a:extLst>
        </p:cNvPr>
        <p:cNvGrpSpPr/>
        <p:nvPr/>
      </p:nvGrpSpPr>
      <p:grpSpPr>
        <a:xfrm>
          <a:off x="0" y="0"/>
          <a:ext cx="0" cy="0"/>
          <a:chOff x="0" y="0"/>
          <a:chExt cx="0" cy="0"/>
        </a:xfrm>
      </p:grpSpPr>
      <p:sp>
        <p:nvSpPr>
          <p:cNvPr id="233" name="Google Shape;233;gb647448be2_1_45:notes">
            <a:extLst>
              <a:ext uri="{FF2B5EF4-FFF2-40B4-BE49-F238E27FC236}">
                <a16:creationId xmlns:a16="http://schemas.microsoft.com/office/drawing/2014/main" id="{61F31967-8DA9-8C8A-7E85-6D9A9F8AF1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b647448be2_1_45:notes">
            <a:extLst>
              <a:ext uri="{FF2B5EF4-FFF2-40B4-BE49-F238E27FC236}">
                <a16:creationId xmlns:a16="http://schemas.microsoft.com/office/drawing/2014/main" id="{45C88D09-2036-645D-42FC-50F8CD1154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6010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af83f1124d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af83f1124d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66B7DB7A-3A1E-8157-1221-8CB44E6981EE}"/>
            </a:ext>
          </a:extLst>
        </p:cNvPr>
        <p:cNvGrpSpPr/>
        <p:nvPr/>
      </p:nvGrpSpPr>
      <p:grpSpPr>
        <a:xfrm>
          <a:off x="0" y="0"/>
          <a:ext cx="0" cy="0"/>
          <a:chOff x="0" y="0"/>
          <a:chExt cx="0" cy="0"/>
        </a:xfrm>
      </p:grpSpPr>
      <p:sp>
        <p:nvSpPr>
          <p:cNvPr id="143" name="Google Shape;143;gaf83f1124d_0_192:notes">
            <a:extLst>
              <a:ext uri="{FF2B5EF4-FFF2-40B4-BE49-F238E27FC236}">
                <a16:creationId xmlns:a16="http://schemas.microsoft.com/office/drawing/2014/main" id="{FBC133DE-5F67-A700-3574-AFDF6C2D24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af83f1124d_0_192:notes">
            <a:extLst>
              <a:ext uri="{FF2B5EF4-FFF2-40B4-BE49-F238E27FC236}">
                <a16:creationId xmlns:a16="http://schemas.microsoft.com/office/drawing/2014/main" id="{085D72B8-3CB2-8F31-6F0E-C999C8B500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772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82EE34F7-617F-7584-4B3D-8CE024A10FCF}"/>
            </a:ext>
          </a:extLst>
        </p:cNvPr>
        <p:cNvGrpSpPr/>
        <p:nvPr/>
      </p:nvGrpSpPr>
      <p:grpSpPr>
        <a:xfrm>
          <a:off x="0" y="0"/>
          <a:ext cx="0" cy="0"/>
          <a:chOff x="0" y="0"/>
          <a:chExt cx="0" cy="0"/>
        </a:xfrm>
      </p:grpSpPr>
      <p:sp>
        <p:nvSpPr>
          <p:cNvPr id="233" name="Google Shape;233;gb647448be2_1_45:notes">
            <a:extLst>
              <a:ext uri="{FF2B5EF4-FFF2-40B4-BE49-F238E27FC236}">
                <a16:creationId xmlns:a16="http://schemas.microsoft.com/office/drawing/2014/main" id="{683385B8-8262-562F-6B68-3C6982B635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b647448be2_1_45:notes">
            <a:extLst>
              <a:ext uri="{FF2B5EF4-FFF2-40B4-BE49-F238E27FC236}">
                <a16:creationId xmlns:a16="http://schemas.microsoft.com/office/drawing/2014/main" id="{EB1397EB-FF3C-8303-F5AF-DD4D461789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8917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b647448be2_1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b647448be2_1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b647448be2_1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647448be2_1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b647448be2_1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b647448be2_1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b647448be2_1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b647448be2_1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b647448be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b647448be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b56d264711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b56d264711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b647448be2_1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b647448be2_1_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b647448be2_1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b647448be2_1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11700" y="1239060"/>
            <a:ext cx="6089100" cy="17763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1"/>
              </a:buClr>
              <a:buSzPts val="5200"/>
              <a:buNone/>
              <a:defRPr sz="5200">
                <a:solidFill>
                  <a:schemeClr val="accent1"/>
                </a:solidFill>
              </a:defRPr>
            </a:lvl1pPr>
            <a:lvl2pPr lvl="1">
              <a:lnSpc>
                <a:spcPct val="100000"/>
              </a:lnSpc>
              <a:spcBef>
                <a:spcPts val="0"/>
              </a:spcBef>
              <a:spcAft>
                <a:spcPts val="0"/>
              </a:spcAft>
              <a:buClr>
                <a:schemeClr val="accent1"/>
              </a:buClr>
              <a:buSzPts val="5200"/>
              <a:buNone/>
              <a:defRPr sz="5200">
                <a:solidFill>
                  <a:schemeClr val="accent1"/>
                </a:solidFill>
              </a:defRPr>
            </a:lvl2pPr>
            <a:lvl3pPr lvl="2">
              <a:lnSpc>
                <a:spcPct val="100000"/>
              </a:lnSpc>
              <a:spcBef>
                <a:spcPts val="0"/>
              </a:spcBef>
              <a:spcAft>
                <a:spcPts val="0"/>
              </a:spcAft>
              <a:buClr>
                <a:schemeClr val="accent1"/>
              </a:buClr>
              <a:buSzPts val="5200"/>
              <a:buNone/>
              <a:defRPr sz="5200">
                <a:solidFill>
                  <a:schemeClr val="accent1"/>
                </a:solidFill>
              </a:defRPr>
            </a:lvl3pPr>
            <a:lvl4pPr lvl="3">
              <a:lnSpc>
                <a:spcPct val="100000"/>
              </a:lnSpc>
              <a:spcBef>
                <a:spcPts val="0"/>
              </a:spcBef>
              <a:spcAft>
                <a:spcPts val="0"/>
              </a:spcAft>
              <a:buClr>
                <a:schemeClr val="accent1"/>
              </a:buClr>
              <a:buSzPts val="5200"/>
              <a:buNone/>
              <a:defRPr sz="5200">
                <a:solidFill>
                  <a:schemeClr val="accent1"/>
                </a:solidFill>
              </a:defRPr>
            </a:lvl4pPr>
            <a:lvl5pPr lvl="4">
              <a:lnSpc>
                <a:spcPct val="100000"/>
              </a:lnSpc>
              <a:spcBef>
                <a:spcPts val="0"/>
              </a:spcBef>
              <a:spcAft>
                <a:spcPts val="0"/>
              </a:spcAft>
              <a:buClr>
                <a:schemeClr val="accent1"/>
              </a:buClr>
              <a:buSzPts val="5200"/>
              <a:buNone/>
              <a:defRPr sz="5200">
                <a:solidFill>
                  <a:schemeClr val="accent1"/>
                </a:solidFill>
              </a:defRPr>
            </a:lvl5pPr>
            <a:lvl6pPr lvl="5">
              <a:lnSpc>
                <a:spcPct val="100000"/>
              </a:lnSpc>
              <a:spcBef>
                <a:spcPts val="0"/>
              </a:spcBef>
              <a:spcAft>
                <a:spcPts val="0"/>
              </a:spcAft>
              <a:buClr>
                <a:schemeClr val="accent1"/>
              </a:buClr>
              <a:buSzPts val="5200"/>
              <a:buNone/>
              <a:defRPr sz="5200">
                <a:solidFill>
                  <a:schemeClr val="accent1"/>
                </a:solidFill>
              </a:defRPr>
            </a:lvl6pPr>
            <a:lvl7pPr lvl="6">
              <a:lnSpc>
                <a:spcPct val="100000"/>
              </a:lnSpc>
              <a:spcBef>
                <a:spcPts val="0"/>
              </a:spcBef>
              <a:spcAft>
                <a:spcPts val="0"/>
              </a:spcAft>
              <a:buClr>
                <a:schemeClr val="accent1"/>
              </a:buClr>
              <a:buSzPts val="5200"/>
              <a:buNone/>
              <a:defRPr sz="5200">
                <a:solidFill>
                  <a:schemeClr val="accent1"/>
                </a:solidFill>
              </a:defRPr>
            </a:lvl7pPr>
            <a:lvl8pPr lvl="7">
              <a:lnSpc>
                <a:spcPct val="100000"/>
              </a:lnSpc>
              <a:spcBef>
                <a:spcPts val="0"/>
              </a:spcBef>
              <a:spcAft>
                <a:spcPts val="0"/>
              </a:spcAft>
              <a:buClr>
                <a:schemeClr val="accent1"/>
              </a:buClr>
              <a:buSzPts val="5200"/>
              <a:buNone/>
              <a:defRPr sz="5200">
                <a:solidFill>
                  <a:schemeClr val="accent1"/>
                </a:solidFill>
              </a:defRPr>
            </a:lvl8pPr>
            <a:lvl9pPr lvl="8">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4" name="Google Shape;14;p2"/>
          <p:cNvSpPr txBox="1">
            <a:spLocks noGrp="1"/>
          </p:cNvSpPr>
          <p:nvPr>
            <p:ph type="subTitle" idx="1"/>
          </p:nvPr>
        </p:nvSpPr>
        <p:spPr>
          <a:xfrm>
            <a:off x="311700" y="3015350"/>
            <a:ext cx="60891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15" name="Google Shape;15;p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grpSp>
        <p:nvGrpSpPr>
          <p:cNvPr id="16" name="Google Shape;16;p2"/>
          <p:cNvGrpSpPr/>
          <p:nvPr/>
        </p:nvGrpSpPr>
        <p:grpSpPr>
          <a:xfrm>
            <a:off x="311726" y="342910"/>
            <a:ext cx="2560425" cy="520904"/>
            <a:chOff x="311726" y="342910"/>
            <a:chExt cx="2560425" cy="520904"/>
          </a:xfrm>
        </p:grpSpPr>
        <p:sp>
          <p:nvSpPr>
            <p:cNvPr id="17" name="Google Shape;17;p2"/>
            <p:cNvSpPr/>
            <p:nvPr/>
          </p:nvSpPr>
          <p:spPr>
            <a:xfrm>
              <a:off x="311726" y="342910"/>
              <a:ext cx="2560425" cy="520904"/>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
            <p:cNvPicPr preferRelativeResize="0"/>
            <p:nvPr/>
          </p:nvPicPr>
          <p:blipFill rotWithShape="1">
            <a:blip r:embed="rId2"/>
            <a:srcRect l="377" r="387"/>
            <a:stretch>
              <a:fillRect/>
            </a:stretch>
          </p:blipFill>
          <p:spPr>
            <a:xfrm>
              <a:off x="391788" y="382839"/>
              <a:ext cx="2400300" cy="441046"/>
            </a:xfrm>
            <a:prstGeom prst="rect">
              <a:avLst/>
            </a:prstGeom>
            <a:noFill/>
            <a:ln>
              <a:noFill/>
            </a:ln>
          </p:spPr>
        </p:pic>
      </p:grpSp>
      <p:sp>
        <p:nvSpPr>
          <p:cNvPr id="19" name="Google Shape;19;p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txBody>
          <a:bodyPr/>
          <a:lstStyle/>
          <a:p>
            <a:endParaRPr lang="en-GB"/>
          </a:p>
        </p:txBody>
      </p:sp>
      <p:sp>
        <p:nvSpPr>
          <p:cNvPr id="25" name="Google Shape;25;p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GB"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26" name="Google Shape;26;p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39"/>
        <p:cNvGrpSpPr/>
        <p:nvPr/>
      </p:nvGrpSpPr>
      <p:grpSpPr>
        <a:xfrm>
          <a:off x="0" y="0"/>
          <a:ext cx="0" cy="0"/>
          <a:chOff x="0" y="0"/>
          <a:chExt cx="0" cy="0"/>
        </a:xfrm>
      </p:grpSpPr>
      <p:sp>
        <p:nvSpPr>
          <p:cNvPr id="40" name="Google Shape;40;p4"/>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42" name="Google Shape;42;p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69"/>
        <p:cNvGrpSpPr/>
        <p:nvPr/>
      </p:nvGrpSpPr>
      <p:grpSpPr>
        <a:xfrm>
          <a:off x="0" y="0"/>
          <a:ext cx="0" cy="0"/>
          <a:chOff x="0" y="0"/>
          <a:chExt cx="0" cy="0"/>
        </a:xfrm>
      </p:grpSpPr>
      <p:sp>
        <p:nvSpPr>
          <p:cNvPr id="70" name="Google Shape;70;p9"/>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9"/>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9"/>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76" name="Google Shape;76;p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0"/>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10"/>
          <p:cNvSpPr txBox="1">
            <a:spLocks noGrp="1"/>
          </p:cNvSpPr>
          <p:nvPr>
            <p:ph type="body" idx="1"/>
          </p:nvPr>
        </p:nvSpPr>
        <p:spPr>
          <a:xfrm>
            <a:off x="3117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0" name="Google Shape;80;p10"/>
          <p:cNvSpPr txBox="1">
            <a:spLocks noGrp="1"/>
          </p:cNvSpPr>
          <p:nvPr>
            <p:ph type="body" idx="2"/>
          </p:nvPr>
        </p:nvSpPr>
        <p:spPr>
          <a:xfrm>
            <a:off x="48324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1" name="Google Shape;81;p1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11"/>
          <p:cNvSpPr txBox="1">
            <a:spLocks noGrp="1"/>
          </p:cNvSpPr>
          <p:nvPr>
            <p:ph type="body" idx="1"/>
          </p:nvPr>
        </p:nvSpPr>
        <p:spPr>
          <a:xfrm>
            <a:off x="311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5" name="Google Shape;85;p1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lang="en-GB"/>
          </a:p>
        </p:txBody>
      </p:sp>
      <p:sp>
        <p:nvSpPr>
          <p:cNvPr id="86" name="Google Shape;86;p11"/>
          <p:cNvSpPr txBox="1">
            <a:spLocks noGrp="1"/>
          </p:cNvSpPr>
          <p:nvPr>
            <p:ph type="body" idx="2"/>
          </p:nvPr>
        </p:nvSpPr>
        <p:spPr>
          <a:xfrm>
            <a:off x="6152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7" name="Google Shape;87;p11"/>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98"/>
        <p:cNvGrpSpPr/>
        <p:nvPr/>
      </p:nvGrpSpPr>
      <p:grpSpPr>
        <a:xfrm>
          <a:off x="0" y="0"/>
          <a:ext cx="0" cy="0"/>
          <a:chOff x="0" y="0"/>
          <a:chExt cx="0" cy="0"/>
        </a:xfrm>
      </p:grpSpPr>
      <p:sp>
        <p:nvSpPr>
          <p:cNvPr id="99" name="Google Shape;99;p1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lang="en-GB"/>
          </a:p>
        </p:txBody>
      </p:sp>
      <p:grpSp>
        <p:nvGrpSpPr>
          <p:cNvPr id="100" name="Google Shape;100;p15"/>
          <p:cNvGrpSpPr/>
          <p:nvPr/>
        </p:nvGrpSpPr>
        <p:grpSpPr>
          <a:xfrm rot="2700000">
            <a:off x="585683" y="481417"/>
            <a:ext cx="694882" cy="564848"/>
            <a:chOff x="919500" y="1916075"/>
            <a:chExt cx="1067700" cy="867900"/>
          </a:xfrm>
        </p:grpSpPr>
        <p:sp>
          <p:nvSpPr>
            <p:cNvPr id="101" name="Google Shape;101;p1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rot="8100000">
            <a:off x="7746888" y="3437645"/>
            <a:ext cx="912919" cy="742084"/>
            <a:chOff x="521400" y="3135325"/>
            <a:chExt cx="1067700" cy="867900"/>
          </a:xfrm>
        </p:grpSpPr>
        <p:sp>
          <p:nvSpPr>
            <p:cNvPr id="104" name="Google Shape;104;p1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5"/>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800"/>
              <a:buFont typeface="Assistant"/>
              <a:buNone/>
              <a:defRPr sz="2800" b="1">
                <a:solidFill>
                  <a:schemeClr val="dk1"/>
                </a:solidFill>
                <a:latin typeface="Assistant"/>
                <a:ea typeface="Assistant"/>
                <a:cs typeface="Assistant"/>
                <a:sym typeface="Assistan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ssistant"/>
              <a:buChar char="●"/>
              <a:defRPr sz="1800">
                <a:solidFill>
                  <a:schemeClr val="dk1"/>
                </a:solidFill>
                <a:latin typeface="Assistant"/>
                <a:ea typeface="Assistant"/>
                <a:cs typeface="Assistant"/>
                <a:sym typeface="Assistant"/>
              </a:defRPr>
            </a:lvl1pPr>
            <a:lvl2pPr marL="914400" lvl="1"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000"/>
              </a:spcBef>
              <a:spcAft>
                <a:spcPts val="10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
        <p:nvSpPr>
          <p:cNvPr id="8" name="Google Shape;8;p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lvl="0" algn="r">
              <a:buNone/>
              <a:defRPr sz="800">
                <a:solidFill>
                  <a:schemeClr val="dk2"/>
                </a:solidFill>
                <a:latin typeface="Assistant"/>
                <a:ea typeface="Assistant"/>
                <a:cs typeface="Assistant"/>
                <a:sym typeface="Assistant"/>
              </a:defRPr>
            </a:lvl1pPr>
            <a:lvl2pPr lvl="1" algn="r">
              <a:buNone/>
              <a:defRPr sz="800">
                <a:solidFill>
                  <a:schemeClr val="dk2"/>
                </a:solidFill>
                <a:latin typeface="Assistant"/>
                <a:ea typeface="Assistant"/>
                <a:cs typeface="Assistant"/>
                <a:sym typeface="Assistant"/>
              </a:defRPr>
            </a:lvl2pPr>
            <a:lvl3pPr lvl="2" algn="r">
              <a:buNone/>
              <a:defRPr sz="800">
                <a:solidFill>
                  <a:schemeClr val="dk2"/>
                </a:solidFill>
                <a:latin typeface="Assistant"/>
                <a:ea typeface="Assistant"/>
                <a:cs typeface="Assistant"/>
                <a:sym typeface="Assistant"/>
              </a:defRPr>
            </a:lvl3pPr>
            <a:lvl4pPr lvl="3" algn="r">
              <a:buNone/>
              <a:defRPr sz="800">
                <a:solidFill>
                  <a:schemeClr val="dk2"/>
                </a:solidFill>
                <a:latin typeface="Assistant"/>
                <a:ea typeface="Assistant"/>
                <a:cs typeface="Assistant"/>
                <a:sym typeface="Assistant"/>
              </a:defRPr>
            </a:lvl4pPr>
            <a:lvl5pPr lvl="4" algn="r">
              <a:buNone/>
              <a:defRPr sz="800">
                <a:solidFill>
                  <a:schemeClr val="dk2"/>
                </a:solidFill>
                <a:latin typeface="Assistant"/>
                <a:ea typeface="Assistant"/>
                <a:cs typeface="Assistant"/>
                <a:sym typeface="Assistant"/>
              </a:defRPr>
            </a:lvl5pPr>
            <a:lvl6pPr lvl="5" algn="r">
              <a:buNone/>
              <a:defRPr sz="800">
                <a:solidFill>
                  <a:schemeClr val="dk2"/>
                </a:solidFill>
                <a:latin typeface="Assistant"/>
                <a:ea typeface="Assistant"/>
                <a:cs typeface="Assistant"/>
                <a:sym typeface="Assistant"/>
              </a:defRPr>
            </a:lvl6pPr>
            <a:lvl7pPr lvl="6" algn="r">
              <a:buNone/>
              <a:defRPr sz="800">
                <a:solidFill>
                  <a:schemeClr val="dk2"/>
                </a:solidFill>
                <a:latin typeface="Assistant"/>
                <a:ea typeface="Assistant"/>
                <a:cs typeface="Assistant"/>
                <a:sym typeface="Assistant"/>
              </a:defRPr>
            </a:lvl7pPr>
            <a:lvl8pPr lvl="7" algn="r">
              <a:buNone/>
              <a:defRPr sz="800">
                <a:solidFill>
                  <a:schemeClr val="dk2"/>
                </a:solidFill>
                <a:latin typeface="Assistant"/>
                <a:ea typeface="Assistant"/>
                <a:cs typeface="Assistant"/>
                <a:sym typeface="Assistant"/>
              </a:defRPr>
            </a:lvl8pPr>
            <a:lvl9pPr lvl="8" algn="r">
              <a:buNone/>
              <a:defRPr sz="800">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t>‹#›</a:t>
            </a:fld>
            <a:endParaRPr lang="en-GB"/>
          </a:p>
        </p:txBody>
      </p:sp>
      <p:grpSp>
        <p:nvGrpSpPr>
          <p:cNvPr id="9" name="Google Shape;9;p1"/>
          <p:cNvGrpSpPr/>
          <p:nvPr/>
        </p:nvGrpSpPr>
        <p:grpSpPr>
          <a:xfrm>
            <a:off x="8458848" y="343116"/>
            <a:ext cx="381224" cy="576102"/>
            <a:chOff x="8458848" y="343116"/>
            <a:chExt cx="381224" cy="576102"/>
          </a:xfrm>
        </p:grpSpPr>
        <p:sp>
          <p:nvSpPr>
            <p:cNvPr id="10" name="Google Shape;10;p1"/>
            <p:cNvSpPr/>
            <p:nvPr/>
          </p:nvSpPr>
          <p:spPr>
            <a:xfrm>
              <a:off x="8458848" y="343116"/>
              <a:ext cx="381224" cy="576102"/>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1"/>
            <p:cNvPicPr preferRelativeResize="0"/>
            <p:nvPr/>
          </p:nvPicPr>
          <p:blipFill rotWithShape="1">
            <a:blip r:embed="rId8"/>
            <a:srcRect l="80" r="80"/>
            <a:stretch>
              <a:fillRect/>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 id="2147483662"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7"/>
          <p:cNvSpPr txBox="1">
            <a:spLocks noGrp="1"/>
          </p:cNvSpPr>
          <p:nvPr>
            <p:ph type="ctrTitle"/>
          </p:nvPr>
        </p:nvSpPr>
        <p:spPr>
          <a:xfrm>
            <a:off x="311700" y="1239060"/>
            <a:ext cx="7993470" cy="1776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dirty="0"/>
              <a:t>Model Prediction for Applicant Job Status</a:t>
            </a:r>
          </a:p>
        </p:txBody>
      </p:sp>
      <p:sp>
        <p:nvSpPr>
          <p:cNvPr id="404" name="Google Shape;404;p37"/>
          <p:cNvSpPr txBox="1">
            <a:spLocks noGrp="1"/>
          </p:cNvSpPr>
          <p:nvPr>
            <p:ph type="subTitle" idx="1"/>
          </p:nvPr>
        </p:nvSpPr>
        <p:spPr>
          <a:xfrm>
            <a:off x="311700" y="3015350"/>
            <a:ext cx="60891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lang="en-GB" dirty="0"/>
          </a:p>
        </p:txBody>
      </p:sp>
      <p:sp>
        <p:nvSpPr>
          <p:cNvPr id="405" name="Google Shape;405;p37"/>
          <p:cNvSpPr txBox="1"/>
          <p:nvPr/>
        </p:nvSpPr>
        <p:spPr>
          <a:xfrm>
            <a:off x="311700" y="4099375"/>
            <a:ext cx="2953800" cy="563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865"/>
              <a:buNone/>
            </a:pPr>
            <a:r>
              <a:rPr lang="en-GB" sz="1000" b="1" dirty="0">
                <a:solidFill>
                  <a:schemeClr val="dk1"/>
                </a:solidFill>
                <a:latin typeface="Assistant"/>
                <a:ea typeface="Assistant"/>
                <a:cs typeface="Assistant"/>
                <a:sym typeface="Assistant"/>
              </a:rPr>
              <a:t>Name Ugwunwa Stella </a:t>
            </a:r>
            <a:r>
              <a:rPr lang="en-GB" sz="1000" b="1" dirty="0" err="1">
                <a:solidFill>
                  <a:schemeClr val="dk1"/>
                </a:solidFill>
                <a:latin typeface="Assistant"/>
                <a:ea typeface="Assistant"/>
                <a:cs typeface="Assistant"/>
                <a:sym typeface="Assistant"/>
              </a:rPr>
              <a:t>Ngoyika</a:t>
            </a:r>
            <a:endParaRPr sz="1000" b="1" dirty="0">
              <a:solidFill>
                <a:schemeClr val="dk1"/>
              </a:solidFill>
              <a:latin typeface="Assistant"/>
              <a:ea typeface="Assistant"/>
              <a:cs typeface="Assistant"/>
              <a:sym typeface="Assistant"/>
            </a:endParaRPr>
          </a:p>
          <a:p>
            <a:pPr marL="0" lvl="0" indent="0" algn="l" rtl="0">
              <a:lnSpc>
                <a:spcPct val="100000"/>
              </a:lnSpc>
              <a:spcBef>
                <a:spcPts val="0"/>
              </a:spcBef>
              <a:spcAft>
                <a:spcPts val="0"/>
              </a:spcAft>
              <a:buSzPts val="865"/>
              <a:buNone/>
            </a:pPr>
            <a:r>
              <a:rPr lang="en-GB" sz="1000" b="1" dirty="0">
                <a:solidFill>
                  <a:schemeClr val="dk1"/>
                </a:solidFill>
                <a:latin typeface="Assistant"/>
                <a:ea typeface="Assistant"/>
                <a:cs typeface="Assistant"/>
                <a:sym typeface="Assistant"/>
              </a:rPr>
              <a:t>Contact: mstella365gmail.com</a:t>
            </a:r>
            <a:endParaRPr sz="1000" b="1" dirty="0">
              <a:solidFill>
                <a:schemeClr val="dk1"/>
              </a:solidFill>
              <a:latin typeface="Assistant"/>
              <a:ea typeface="Assistant"/>
              <a:cs typeface="Assistant"/>
              <a:sym typeface="Assistan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1" name="Google Shape;141;p2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2</a:t>
            </a:fld>
            <a:endParaRPr lang="en-GB"/>
          </a:p>
        </p:txBody>
      </p:sp>
      <p:pic>
        <p:nvPicPr>
          <p:cNvPr id="3" name="Picture 2">
            <a:extLst>
              <a:ext uri="{FF2B5EF4-FFF2-40B4-BE49-F238E27FC236}">
                <a16:creationId xmlns:a16="http://schemas.microsoft.com/office/drawing/2014/main" id="{7214A9D4-3F68-AFDE-0E8F-21876CA5BAB2}"/>
              </a:ext>
            </a:extLst>
          </p:cNvPr>
          <p:cNvPicPr>
            <a:picLocks noChangeAspect="1"/>
          </p:cNvPicPr>
          <p:nvPr/>
        </p:nvPicPr>
        <p:blipFill>
          <a:blip r:embed="rId3"/>
          <a:srcRect b="10717"/>
          <a:stretch>
            <a:fillRect/>
          </a:stretch>
        </p:blipFill>
        <p:spPr>
          <a:xfrm>
            <a:off x="662187" y="812352"/>
            <a:ext cx="8170126" cy="40874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B0A344E2-57AA-7E3E-6B7D-498DF4BA2ABE}"/>
            </a:ext>
          </a:extLst>
        </p:cNvPr>
        <p:cNvGrpSpPr/>
        <p:nvPr/>
      </p:nvGrpSpPr>
      <p:grpSpPr>
        <a:xfrm>
          <a:off x="0" y="0"/>
          <a:ext cx="0" cy="0"/>
          <a:chOff x="0" y="0"/>
          <a:chExt cx="0" cy="0"/>
        </a:xfrm>
      </p:grpSpPr>
      <p:sp>
        <p:nvSpPr>
          <p:cNvPr id="241" name="Slide Number Placeholder 1">
            <a:extLst>
              <a:ext uri="{FF2B5EF4-FFF2-40B4-BE49-F238E27FC236}">
                <a16:creationId xmlns:a16="http://schemas.microsoft.com/office/drawing/2014/main" id="{1C8F1023-929D-EDAB-B77D-E34DF97E773A}"/>
              </a:ext>
            </a:extLst>
          </p:cNvPr>
          <p:cNvSpPr>
            <a:spLocks noGrp="1"/>
          </p:cNvSpPr>
          <p:nvPr>
            <p:ph type="sldNum" idx="12"/>
          </p:nvPr>
        </p:nvSpPr>
        <p:spPr>
          <a:xfrm>
            <a:off x="8466613" y="4762672"/>
            <a:ext cx="365700" cy="274200"/>
          </a:xfrm>
        </p:spPr>
        <p:txBody>
          <a:bodyPr>
            <a:normAutofit fontScale="70000" lnSpcReduction="20000"/>
          </a:bodyPr>
          <a:lstStyle/>
          <a:p>
            <a:pPr marL="0" lvl="0" indent="0" algn="r" rtl="0">
              <a:lnSpc>
                <a:spcPct val="90000"/>
              </a:lnSpc>
              <a:spcBef>
                <a:spcPts val="0"/>
              </a:spcBef>
              <a:spcAft>
                <a:spcPts val="600"/>
              </a:spcAft>
              <a:buNone/>
            </a:pPr>
            <a:fld id="{00000000-1234-1234-1234-123412341234}" type="slidenum">
              <a:rPr lang="en-GB" sz="200" smtClean="0"/>
              <a:pPr marL="0" lvl="0" indent="0" algn="r" rtl="0">
                <a:lnSpc>
                  <a:spcPct val="90000"/>
                </a:lnSpc>
                <a:spcBef>
                  <a:spcPts val="0"/>
                </a:spcBef>
                <a:spcAft>
                  <a:spcPts val="600"/>
                </a:spcAft>
                <a:buNone/>
              </a:pPr>
              <a:t>3</a:t>
            </a:fld>
            <a:endParaRPr lang="en-GB" sz="200"/>
          </a:p>
        </p:txBody>
      </p:sp>
      <p:sp>
        <p:nvSpPr>
          <p:cNvPr id="6" name="Rectangle 5">
            <a:extLst>
              <a:ext uri="{FF2B5EF4-FFF2-40B4-BE49-F238E27FC236}">
                <a16:creationId xmlns:a16="http://schemas.microsoft.com/office/drawing/2014/main" id="{1F8E84C2-DC9B-209C-89ED-DD6EB9951D90}"/>
              </a:ext>
            </a:extLst>
          </p:cNvPr>
          <p:cNvSpPr/>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p>
            <a:pPr>
              <a:lnSpc>
                <a:spcPct val="90000"/>
              </a:lnSpc>
              <a:spcAft>
                <a:spcPts val="600"/>
              </a:spcAft>
              <a:buClr>
                <a:schemeClr val="accent1"/>
              </a:buClr>
              <a:buSzPts val="4800"/>
            </a:pPr>
            <a:r>
              <a:rPr lang="en-US" sz="1900" b="1" i="0" u="none" strike="noStrike" cap="none">
                <a:ln w="0"/>
                <a:solidFill>
                  <a:schemeClr val="accent1"/>
                </a:solidFill>
                <a:effectLst>
                  <a:outerShdw blurRad="38100" dist="19050" dir="2700000" algn="tl" rotWithShape="0">
                    <a:schemeClr val="dk1">
                      <a:alpha val="40000"/>
                    </a:schemeClr>
                  </a:outerShdw>
                </a:effectLst>
              </a:rPr>
              <a:t>Objectives of this Model Project</a:t>
            </a:r>
            <a:endParaRPr lang="en-US" sz="1900" b="1" i="0" u="none" strike="noStrike" cap="none" spc="0">
              <a:ln w="0"/>
              <a:solidFill>
                <a:schemeClr val="accent1"/>
              </a:solidFill>
              <a:effectLst>
                <a:outerShdw blurRad="38100" dist="19050" dir="2700000" algn="tl" rotWithShape="0">
                  <a:schemeClr val="dk1">
                    <a:alpha val="40000"/>
                  </a:schemeClr>
                </a:outerShdw>
              </a:effectLst>
            </a:endParaRPr>
          </a:p>
        </p:txBody>
      </p:sp>
      <p:sp>
        <p:nvSpPr>
          <p:cNvPr id="236" name="Google Shape;236;p30">
            <a:extLst>
              <a:ext uri="{FF2B5EF4-FFF2-40B4-BE49-F238E27FC236}">
                <a16:creationId xmlns:a16="http://schemas.microsoft.com/office/drawing/2014/main" id="{8EB9A0EB-45D4-03A7-AA24-AF54BE58EC18}"/>
              </a:ext>
            </a:extLst>
          </p:cNvPr>
          <p:cNvSpPr txBox="1">
            <a:spLocks noGrp="1"/>
          </p:cNvSpPr>
          <p:nvPr>
            <p:ph type="body" idx="4294967295"/>
          </p:nvPr>
        </p:nvSpPr>
        <p:spPr>
          <a:xfrm>
            <a:off x="311700" y="1106100"/>
            <a:ext cx="3883050" cy="3561588"/>
          </a:xfrm>
        </p:spPr>
        <p:txBody>
          <a:bodyPr spcFirstLastPara="1" lIns="91425" tIns="91425" rIns="91425" bIns="91425" anchor="t" anchorCtr="0">
            <a:normAutofit/>
          </a:bodyPr>
          <a:lstStyle/>
          <a:p>
            <a:pPr>
              <a:lnSpc>
                <a:spcPct val="105000"/>
              </a:lnSpc>
              <a:spcAft>
                <a:spcPts val="600"/>
              </a:spcAft>
              <a:buClr>
                <a:srgbClr val="000000"/>
              </a:buClr>
              <a:buFont typeface="Arial" panose="020B0604020202020204"/>
            </a:pPr>
            <a:r>
              <a:rPr lang="en-US" sz="1100" b="0" i="0" u="none" strike="noStrike" cap="none" dirty="0">
                <a:solidFill>
                  <a:schemeClr val="accent1"/>
                </a:solidFill>
              </a:rPr>
              <a:t>To develop a machine learning model that automatically evaluates job applicants based on their experience, skills, education, and other qualifications, and classifies each applicant into one of three categories: Best Suited for Role, Best Match for Role, or Will Get Interview.</a:t>
            </a:r>
          </a:p>
          <a:p>
            <a:pPr>
              <a:lnSpc>
                <a:spcPct val="105000"/>
              </a:lnSpc>
              <a:spcAft>
                <a:spcPts val="600"/>
              </a:spcAft>
              <a:buClr>
                <a:srgbClr val="000000"/>
              </a:buClr>
              <a:buFont typeface="Arial" panose="020B0604020202020204"/>
            </a:pPr>
            <a:r>
              <a:rPr lang="en-US" sz="1100" b="0" i="0" u="none" strike="noStrike" cap="none" dirty="0">
                <a:solidFill>
                  <a:schemeClr val="accent1"/>
                </a:solidFill>
              </a:rPr>
              <a:t>The goal is to support applicants/recruiters by quickly highlighting strong candidates and reducing the time spent manually screening applications</a:t>
            </a:r>
            <a:r>
              <a:rPr lang="en-US" sz="1100" dirty="0">
                <a:solidFill>
                  <a:schemeClr val="accent1"/>
                </a:solidFill>
              </a:rPr>
              <a:t> </a:t>
            </a:r>
            <a:r>
              <a:rPr lang="en-US" sz="1100" b="0" i="0" u="none" strike="noStrike" cap="none" dirty="0">
                <a:solidFill>
                  <a:schemeClr val="accent1"/>
                </a:solidFill>
              </a:rPr>
              <a:t>and sending out  while ensuring every applicant is still reviewed fairly within the appropriate tier.</a:t>
            </a:r>
          </a:p>
          <a:p>
            <a:pPr>
              <a:lnSpc>
                <a:spcPct val="105000"/>
              </a:lnSpc>
              <a:spcAft>
                <a:spcPts val="600"/>
              </a:spcAft>
              <a:buClr>
                <a:srgbClr val="000000"/>
              </a:buClr>
              <a:buFont typeface="Arial" panose="020B0604020202020204"/>
            </a:pPr>
            <a:r>
              <a:rPr lang="en-US" sz="1100" b="0" i="0" u="none" strike="noStrike" cap="none" dirty="0">
                <a:solidFill>
                  <a:schemeClr val="accent1"/>
                </a:solidFill>
              </a:rPr>
              <a:t>The model was trained and tested on applicant data, achieving over 90% accuracy, with the Random Forest approach selected as the best-performing and most reliable option for this task.</a:t>
            </a:r>
          </a:p>
        </p:txBody>
      </p:sp>
      <p:pic>
        <p:nvPicPr>
          <p:cNvPr id="5" name="Picture 4">
            <a:extLst>
              <a:ext uri="{FF2B5EF4-FFF2-40B4-BE49-F238E27FC236}">
                <a16:creationId xmlns:a16="http://schemas.microsoft.com/office/drawing/2014/main" id="{F6CA6C29-C571-8E20-2FA8-7F6431DD9E9C}"/>
              </a:ext>
            </a:extLst>
          </p:cNvPr>
          <p:cNvPicPr>
            <a:picLocks noChangeAspect="1"/>
          </p:cNvPicPr>
          <p:nvPr/>
        </p:nvPicPr>
        <p:blipFill>
          <a:blip r:embed="rId3"/>
          <a:srcRect t="14867" r="-1" b="1064"/>
          <a:stretch>
            <a:fillRect/>
          </a:stretch>
        </p:blipFill>
        <p:spPr>
          <a:xfrm>
            <a:off x="3874710" y="1005840"/>
            <a:ext cx="3883050" cy="3661848"/>
          </a:xfrm>
          <a:prstGeom prst="rect">
            <a:avLst/>
          </a:prstGeom>
          <a:noFill/>
          <a:ln>
            <a:noFill/>
          </a:ln>
        </p:spPr>
      </p:pic>
    </p:spTree>
    <p:extLst>
      <p:ext uri="{BB962C8B-B14F-4D97-AF65-F5344CB8AC3E}">
        <p14:creationId xmlns:p14="http://schemas.microsoft.com/office/powerpoint/2010/main" val="4048998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7" name="Google Shape;147;p2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4</a:t>
            </a:fld>
            <a:endParaRPr lang="en-GB"/>
          </a:p>
        </p:txBody>
      </p:sp>
      <p:sp>
        <p:nvSpPr>
          <p:cNvPr id="7" name="Google Shape;148;p23">
            <a:extLst>
              <a:ext uri="{FF2B5EF4-FFF2-40B4-BE49-F238E27FC236}">
                <a16:creationId xmlns:a16="http://schemas.microsoft.com/office/drawing/2014/main" id="{9FCB0ED7-543B-2B2B-96AC-5FC635A56A38}"/>
              </a:ext>
            </a:extLst>
          </p:cNvPr>
          <p:cNvSpPr txBox="1">
            <a:spLocks/>
          </p:cNvSpPr>
          <p:nvPr/>
        </p:nvSpPr>
        <p:spPr>
          <a:xfrm>
            <a:off x="252761" y="178420"/>
            <a:ext cx="8147824" cy="4802458"/>
          </a:xfrm>
          <a:prstGeom prst="rect">
            <a:avLst/>
          </a:prstGeom>
          <a:solidFill>
            <a:schemeClr val="accent3"/>
          </a:solidFill>
          <a:ln>
            <a:noFill/>
          </a:ln>
        </p:spPr>
        <p:txBody>
          <a:bodyPr spcFirstLastPara="1" wrap="square" lIns="91425" tIns="91425" rIns="91425" bIns="91425" anchor="b" anchorCtr="0">
            <a:norm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2pPr>
            <a:lvl3pPr marL="1371600" marR="0" lvl="2"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3pPr>
            <a:lvl4pPr marL="1828800" marR="0" lvl="3"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4pPr>
            <a:lvl5pPr marL="2286000" marR="0" lvl="4"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5pPr>
            <a:lvl6pPr marL="2743200" marR="0" lvl="5"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6pPr>
            <a:lvl7pPr marL="3200400" marR="0" lvl="6"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7pPr>
            <a:lvl8pPr marL="3657600" marR="0" lvl="7"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8pPr>
            <a:lvl9pPr marL="4114800" marR="0" lvl="8" indent="-304800" algn="l" rtl="0">
              <a:lnSpc>
                <a:spcPct val="115000"/>
              </a:lnSpc>
              <a:spcBef>
                <a:spcPts val="1000"/>
              </a:spcBef>
              <a:spcAft>
                <a:spcPts val="100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9pPr>
          </a:lstStyle>
          <a:p>
            <a:pPr marL="0" indent="0">
              <a:buFont typeface="Assistant"/>
              <a:buNone/>
            </a:pPr>
            <a:endParaRPr lang="en-GB" b="1" dirty="0"/>
          </a:p>
        </p:txBody>
      </p:sp>
      <p:pic>
        <p:nvPicPr>
          <p:cNvPr id="2" name="Picture 1">
            <a:extLst>
              <a:ext uri="{FF2B5EF4-FFF2-40B4-BE49-F238E27FC236}">
                <a16:creationId xmlns:a16="http://schemas.microsoft.com/office/drawing/2014/main" id="{F6359717-9A9B-BD08-7091-8EC6D87E254D}"/>
              </a:ext>
            </a:extLst>
          </p:cNvPr>
          <p:cNvPicPr>
            <a:picLocks noChangeAspect="1"/>
          </p:cNvPicPr>
          <p:nvPr/>
        </p:nvPicPr>
        <p:blipFill>
          <a:blip r:embed="rId3"/>
          <a:stretch>
            <a:fillRect/>
          </a:stretch>
        </p:blipFill>
        <p:spPr>
          <a:xfrm>
            <a:off x="438615" y="416313"/>
            <a:ext cx="7646019" cy="4346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48A8EEEC-0F81-C526-952F-915CBCED4945}"/>
            </a:ext>
          </a:extLst>
        </p:cNvPr>
        <p:cNvGrpSpPr/>
        <p:nvPr/>
      </p:nvGrpSpPr>
      <p:grpSpPr>
        <a:xfrm>
          <a:off x="0" y="0"/>
          <a:ext cx="0" cy="0"/>
          <a:chOff x="0" y="0"/>
          <a:chExt cx="0" cy="0"/>
        </a:xfrm>
      </p:grpSpPr>
      <p:sp>
        <p:nvSpPr>
          <p:cNvPr id="147" name="Google Shape;147;p23">
            <a:extLst>
              <a:ext uri="{FF2B5EF4-FFF2-40B4-BE49-F238E27FC236}">
                <a16:creationId xmlns:a16="http://schemas.microsoft.com/office/drawing/2014/main" id="{D64281E7-5F14-BE11-080D-B1B79F48F863}"/>
              </a:ext>
            </a:extLst>
          </p:cNvPr>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5</a:t>
            </a:fld>
            <a:endParaRPr lang="en-GB"/>
          </a:p>
        </p:txBody>
      </p:sp>
      <p:sp>
        <p:nvSpPr>
          <p:cNvPr id="7" name="Google Shape;148;p23">
            <a:extLst>
              <a:ext uri="{FF2B5EF4-FFF2-40B4-BE49-F238E27FC236}">
                <a16:creationId xmlns:a16="http://schemas.microsoft.com/office/drawing/2014/main" id="{2A81A4A1-18A4-3610-2BAC-19AECF6C752C}"/>
              </a:ext>
            </a:extLst>
          </p:cNvPr>
          <p:cNvSpPr txBox="1">
            <a:spLocks/>
          </p:cNvSpPr>
          <p:nvPr/>
        </p:nvSpPr>
        <p:spPr>
          <a:xfrm>
            <a:off x="252761" y="178420"/>
            <a:ext cx="8147824" cy="4802458"/>
          </a:xfrm>
          <a:prstGeom prst="rect">
            <a:avLst/>
          </a:prstGeom>
          <a:solidFill>
            <a:schemeClr val="accent3"/>
          </a:solidFill>
          <a:ln>
            <a:noFill/>
          </a:ln>
        </p:spPr>
        <p:txBody>
          <a:bodyPr spcFirstLastPara="1" wrap="square" lIns="91425" tIns="91425" rIns="91425" bIns="91425" anchor="b" anchorCtr="0">
            <a:norm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2pPr>
            <a:lvl3pPr marL="1371600" marR="0" lvl="2"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3pPr>
            <a:lvl4pPr marL="1828800" marR="0" lvl="3"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4pPr>
            <a:lvl5pPr marL="2286000" marR="0" lvl="4"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5pPr>
            <a:lvl6pPr marL="2743200" marR="0" lvl="5"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6pPr>
            <a:lvl7pPr marL="3200400" marR="0" lvl="6"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7pPr>
            <a:lvl8pPr marL="3657600" marR="0" lvl="7" indent="-304800" algn="l" rtl="0">
              <a:lnSpc>
                <a:spcPct val="115000"/>
              </a:lnSpc>
              <a:spcBef>
                <a:spcPts val="100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8pPr>
            <a:lvl9pPr marL="4114800" marR="0" lvl="8" indent="-304800" algn="l" rtl="0">
              <a:lnSpc>
                <a:spcPct val="115000"/>
              </a:lnSpc>
              <a:spcBef>
                <a:spcPts val="1000"/>
              </a:spcBef>
              <a:spcAft>
                <a:spcPts val="100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9pPr>
          </a:lstStyle>
          <a:p>
            <a:pPr marL="0" indent="0">
              <a:buFont typeface="Assistant"/>
              <a:buNone/>
            </a:pPr>
            <a:endParaRPr lang="en-GB" b="1" dirty="0"/>
          </a:p>
        </p:txBody>
      </p:sp>
      <p:pic>
        <p:nvPicPr>
          <p:cNvPr id="3" name="Picture 2">
            <a:extLst>
              <a:ext uri="{FF2B5EF4-FFF2-40B4-BE49-F238E27FC236}">
                <a16:creationId xmlns:a16="http://schemas.microsoft.com/office/drawing/2014/main" id="{56B18B8E-6610-416C-2B8F-C58F2646F0CF}"/>
              </a:ext>
            </a:extLst>
          </p:cNvPr>
          <p:cNvPicPr>
            <a:picLocks noChangeAspect="1"/>
          </p:cNvPicPr>
          <p:nvPr/>
        </p:nvPicPr>
        <p:blipFill>
          <a:blip r:embed="rId3"/>
          <a:stretch>
            <a:fillRect/>
          </a:stretch>
        </p:blipFill>
        <p:spPr>
          <a:xfrm>
            <a:off x="408878" y="557561"/>
            <a:ext cx="7144215" cy="4334107"/>
          </a:xfrm>
          <a:prstGeom prst="rect">
            <a:avLst/>
          </a:prstGeom>
        </p:spPr>
      </p:pic>
    </p:spTree>
    <p:extLst>
      <p:ext uri="{BB962C8B-B14F-4D97-AF65-F5344CB8AC3E}">
        <p14:creationId xmlns:p14="http://schemas.microsoft.com/office/powerpoint/2010/main" val="1310806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6548A17-F4A7-8328-6C56-F26A725A8254}"/>
            </a:ext>
          </a:extLst>
        </p:cNvPr>
        <p:cNvGrpSpPr/>
        <p:nvPr/>
      </p:nvGrpSpPr>
      <p:grpSpPr>
        <a:xfrm>
          <a:off x="0" y="0"/>
          <a:ext cx="0" cy="0"/>
          <a:chOff x="0" y="0"/>
          <a:chExt cx="0" cy="0"/>
        </a:xfrm>
      </p:grpSpPr>
      <p:sp>
        <p:nvSpPr>
          <p:cNvPr id="236" name="Google Shape;236;p30">
            <a:extLst>
              <a:ext uri="{FF2B5EF4-FFF2-40B4-BE49-F238E27FC236}">
                <a16:creationId xmlns:a16="http://schemas.microsoft.com/office/drawing/2014/main" id="{8C2B1DB6-2899-A334-22E4-B978A296E863}"/>
              </a:ext>
            </a:extLst>
          </p:cNvPr>
          <p:cNvSpPr txBox="1">
            <a:spLocks noGrp="1"/>
          </p:cNvSpPr>
          <p:nvPr>
            <p:ph type="body" idx="2"/>
          </p:nvPr>
        </p:nvSpPr>
        <p:spPr>
          <a:xfrm>
            <a:off x="0" y="0"/>
            <a:ext cx="9144000" cy="5143500"/>
          </a:xfrm>
          <a:prstGeom prst="rect">
            <a:avLst/>
          </a:prstGeom>
        </p:spPr>
        <p:txBody>
          <a:bodyPr spcFirstLastPara="1" wrap="square" lIns="91425" tIns="91425" rIns="91425" bIns="91425" anchor="b" anchorCtr="0">
            <a:normAutofit/>
          </a:bodyPr>
          <a:lstStyle/>
          <a:p>
            <a:pPr marL="0" lvl="0" indent="0" algn="l" rtl="0">
              <a:lnSpc>
                <a:spcPct val="100000"/>
              </a:lnSpc>
              <a:spcBef>
                <a:spcPts val="0"/>
              </a:spcBef>
              <a:spcAft>
                <a:spcPts val="0"/>
              </a:spcAft>
              <a:buNone/>
            </a:pPr>
            <a:endParaRPr b="1" dirty="0"/>
          </a:p>
        </p:txBody>
      </p:sp>
      <p:pic>
        <p:nvPicPr>
          <p:cNvPr id="3" name="Picture 2">
            <a:extLst>
              <a:ext uri="{FF2B5EF4-FFF2-40B4-BE49-F238E27FC236}">
                <a16:creationId xmlns:a16="http://schemas.microsoft.com/office/drawing/2014/main" id="{1AE54B09-4A66-A8D6-F521-D259457A3378}"/>
              </a:ext>
            </a:extLst>
          </p:cNvPr>
          <p:cNvPicPr>
            <a:picLocks noChangeAspect="1"/>
          </p:cNvPicPr>
          <p:nvPr/>
        </p:nvPicPr>
        <p:blipFill>
          <a:blip r:embed="rId3"/>
          <a:srcRect l="6076" t="10741" r="16220"/>
          <a:stretch>
            <a:fillRect/>
          </a:stretch>
        </p:blipFill>
        <p:spPr>
          <a:xfrm>
            <a:off x="2653991" y="983858"/>
            <a:ext cx="6490009" cy="4211681"/>
          </a:xfrm>
          <a:prstGeom prst="rect">
            <a:avLst/>
          </a:prstGeom>
        </p:spPr>
      </p:pic>
      <p:pic>
        <p:nvPicPr>
          <p:cNvPr id="4" name="Picture 3">
            <a:extLst>
              <a:ext uri="{FF2B5EF4-FFF2-40B4-BE49-F238E27FC236}">
                <a16:creationId xmlns:a16="http://schemas.microsoft.com/office/drawing/2014/main" id="{1D95BC57-B8FB-F195-2999-645C821CB7DB}"/>
              </a:ext>
            </a:extLst>
          </p:cNvPr>
          <p:cNvPicPr>
            <a:picLocks noChangeAspect="1"/>
          </p:cNvPicPr>
          <p:nvPr/>
        </p:nvPicPr>
        <p:blipFill>
          <a:blip r:embed="rId4"/>
          <a:stretch>
            <a:fillRect/>
          </a:stretch>
        </p:blipFill>
        <p:spPr>
          <a:xfrm>
            <a:off x="-1" y="4457641"/>
            <a:ext cx="2653991" cy="685859"/>
          </a:xfrm>
          <a:prstGeom prst="rect">
            <a:avLst/>
          </a:prstGeom>
        </p:spPr>
      </p:pic>
      <p:sp>
        <p:nvSpPr>
          <p:cNvPr id="6" name="Rectangle 5">
            <a:extLst>
              <a:ext uri="{FF2B5EF4-FFF2-40B4-BE49-F238E27FC236}">
                <a16:creationId xmlns:a16="http://schemas.microsoft.com/office/drawing/2014/main" id="{70A9BD34-696B-9962-F443-8D2FCF1CE001}"/>
              </a:ext>
            </a:extLst>
          </p:cNvPr>
          <p:cNvSpPr/>
          <p:nvPr/>
        </p:nvSpPr>
        <p:spPr>
          <a:xfrm>
            <a:off x="1595177" y="0"/>
            <a:ext cx="3701655" cy="523220"/>
          </a:xfrm>
          <a:prstGeom prst="rect">
            <a:avLst/>
          </a:prstGeom>
          <a:noFill/>
        </p:spPr>
        <p:txBody>
          <a:bodyPr wrap="none" lIns="91440" tIns="45720" rIns="91440" bIns="45720">
            <a:spAutoFit/>
          </a:bodyPr>
          <a:lstStyle/>
          <a:p>
            <a:pPr algn="ctr"/>
            <a:r>
              <a:rPr lang="en-GB" sz="2800" b="1" dirty="0">
                <a:ln w="0"/>
                <a:solidFill>
                  <a:schemeClr val="tx1"/>
                </a:solidFill>
                <a:effectLst>
                  <a:outerShdw blurRad="38100" dist="19050" dir="2700000" algn="tl" rotWithShape="0">
                    <a:schemeClr val="dk1">
                      <a:alpha val="40000"/>
                    </a:schemeClr>
                  </a:outerShdw>
                </a:effectLst>
              </a:rPr>
              <a:t>Features Correlation</a:t>
            </a:r>
            <a:endParaRPr lang="en-GB" sz="28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1030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2" name="Google Shape;172;p2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7</a:t>
            </a:fld>
            <a:endParaRPr lang="en-GB"/>
          </a:p>
        </p:txBody>
      </p:sp>
      <p:sp>
        <p:nvSpPr>
          <p:cNvPr id="173" name="Google Shape;173;p26"/>
          <p:cNvSpPr txBox="1">
            <a:spLocks noGrp="1"/>
          </p:cNvSpPr>
          <p:nvPr>
            <p:ph type="body" idx="1"/>
          </p:nvPr>
        </p:nvSpPr>
        <p:spPr>
          <a:xfrm>
            <a:off x="-1" y="1173041"/>
            <a:ext cx="9143999" cy="3946602"/>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panose="020B0604020202020204"/>
              <a:buNone/>
            </a:pPr>
            <a:br>
              <a:rPr lang="en-GB" b="1" dirty="0"/>
            </a:br>
            <a:endParaRPr b="1" dirty="0"/>
          </a:p>
        </p:txBody>
      </p:sp>
      <p:pic>
        <p:nvPicPr>
          <p:cNvPr id="5" name="Picture 4">
            <a:extLst>
              <a:ext uri="{FF2B5EF4-FFF2-40B4-BE49-F238E27FC236}">
                <a16:creationId xmlns:a16="http://schemas.microsoft.com/office/drawing/2014/main" id="{63C59DE5-3BB7-165B-6BC8-1D4E83ECD061}"/>
              </a:ext>
            </a:extLst>
          </p:cNvPr>
          <p:cNvPicPr>
            <a:picLocks noChangeAspect="1"/>
          </p:cNvPicPr>
          <p:nvPr/>
        </p:nvPicPr>
        <p:blipFill>
          <a:blip r:embed="rId3"/>
          <a:srcRect t="13353"/>
          <a:stretch>
            <a:fillRect/>
          </a:stretch>
        </p:blipFill>
        <p:spPr>
          <a:xfrm>
            <a:off x="26019" y="1571396"/>
            <a:ext cx="9091958" cy="3506861"/>
          </a:xfrm>
          <a:prstGeom prst="rect">
            <a:avLst/>
          </a:prstGeom>
        </p:spPr>
      </p:pic>
      <p:sp>
        <p:nvSpPr>
          <p:cNvPr id="7" name="Google Shape;202;p27">
            <a:extLst>
              <a:ext uri="{FF2B5EF4-FFF2-40B4-BE49-F238E27FC236}">
                <a16:creationId xmlns:a16="http://schemas.microsoft.com/office/drawing/2014/main" id="{F462C065-0137-1FD8-4A12-34B90D5D7BED}"/>
              </a:ext>
            </a:extLst>
          </p:cNvPr>
          <p:cNvSpPr txBox="1">
            <a:spLocks noGrp="1"/>
          </p:cNvSpPr>
          <p:nvPr>
            <p:ph type="body" idx="2"/>
          </p:nvPr>
        </p:nvSpPr>
        <p:spPr>
          <a:xfrm>
            <a:off x="0" y="1069093"/>
            <a:ext cx="9143999" cy="460918"/>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b="1" dirty="0"/>
              <a:t>Certification and Project done</a:t>
            </a:r>
            <a:endParaRPr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2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8</a:t>
            </a:fld>
            <a:endParaRPr lang="en-GB"/>
          </a:p>
        </p:txBody>
      </p:sp>
      <p:sp>
        <p:nvSpPr>
          <p:cNvPr id="4" name="Title 3">
            <a:extLst>
              <a:ext uri="{FF2B5EF4-FFF2-40B4-BE49-F238E27FC236}">
                <a16:creationId xmlns:a16="http://schemas.microsoft.com/office/drawing/2014/main" id="{07A44C2E-685E-EE46-1592-53A9096E4145}"/>
              </a:ext>
            </a:extLst>
          </p:cNvPr>
          <p:cNvSpPr>
            <a:spLocks noGrp="1"/>
          </p:cNvSpPr>
          <p:nvPr>
            <p:ph type="title"/>
          </p:nvPr>
        </p:nvSpPr>
        <p:spPr>
          <a:xfrm>
            <a:off x="88676" y="342900"/>
            <a:ext cx="8147100" cy="572700"/>
          </a:xfrm>
        </p:spPr>
        <p:txBody>
          <a:bodyPr>
            <a:normAutofit fontScale="90000"/>
          </a:bodyPr>
          <a:lstStyle/>
          <a:p>
            <a:r>
              <a:rPr lang="en-GB" dirty="0"/>
              <a:t>Label Distribution</a:t>
            </a:r>
          </a:p>
        </p:txBody>
      </p:sp>
      <p:pic>
        <p:nvPicPr>
          <p:cNvPr id="3" name="Picture 2">
            <a:extLst>
              <a:ext uri="{FF2B5EF4-FFF2-40B4-BE49-F238E27FC236}">
                <a16:creationId xmlns:a16="http://schemas.microsoft.com/office/drawing/2014/main" id="{D467FCF1-63FD-2C5B-8C00-30F6A1BBF35A}"/>
              </a:ext>
            </a:extLst>
          </p:cNvPr>
          <p:cNvPicPr>
            <a:picLocks noChangeAspect="1"/>
          </p:cNvPicPr>
          <p:nvPr/>
        </p:nvPicPr>
        <p:blipFill>
          <a:blip r:embed="rId3"/>
          <a:stretch>
            <a:fillRect/>
          </a:stretch>
        </p:blipFill>
        <p:spPr>
          <a:xfrm>
            <a:off x="0" y="1437487"/>
            <a:ext cx="9144000" cy="37060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p2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9</a:t>
            </a:fld>
            <a:endParaRPr lang="en-GB"/>
          </a:p>
        </p:txBody>
      </p:sp>
      <p:sp>
        <p:nvSpPr>
          <p:cNvPr id="213" name="Google Shape;213;p28"/>
          <p:cNvSpPr txBox="1">
            <a:spLocks noGrp="1"/>
          </p:cNvSpPr>
          <p:nvPr>
            <p:ph type="body" idx="1"/>
          </p:nvPr>
        </p:nvSpPr>
        <p:spPr>
          <a:xfrm>
            <a:off x="-65314" y="0"/>
            <a:ext cx="9209313" cy="514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dirty="0"/>
              <a:t>.</a:t>
            </a:r>
            <a:endParaRPr b="1" dirty="0"/>
          </a:p>
        </p:txBody>
      </p:sp>
      <p:cxnSp>
        <p:nvCxnSpPr>
          <p:cNvPr id="222" name="Google Shape;222;p28"/>
          <p:cNvCxnSpPr/>
          <p:nvPr/>
        </p:nvCxnSpPr>
        <p:spPr>
          <a:xfrm>
            <a:off x="2311650" y="2834500"/>
            <a:ext cx="0" cy="1158000"/>
          </a:xfrm>
          <a:prstGeom prst="straightConnector1">
            <a:avLst/>
          </a:prstGeom>
          <a:noFill/>
          <a:ln w="9525" cap="flat" cmpd="sng">
            <a:solidFill>
              <a:schemeClr val="accent4"/>
            </a:solidFill>
            <a:prstDash val="dash"/>
            <a:round/>
            <a:headEnd type="none" w="med" len="med"/>
            <a:tailEnd type="none" w="med" len="med"/>
          </a:ln>
        </p:spPr>
      </p:cxnSp>
      <p:cxnSp>
        <p:nvCxnSpPr>
          <p:cNvPr id="223" name="Google Shape;223;p28"/>
          <p:cNvCxnSpPr/>
          <p:nvPr/>
        </p:nvCxnSpPr>
        <p:spPr>
          <a:xfrm>
            <a:off x="4111400" y="2892450"/>
            <a:ext cx="0" cy="1158000"/>
          </a:xfrm>
          <a:prstGeom prst="straightConnector1">
            <a:avLst/>
          </a:prstGeom>
          <a:noFill/>
          <a:ln w="9525" cap="flat" cmpd="sng">
            <a:solidFill>
              <a:schemeClr val="accent4"/>
            </a:solidFill>
            <a:prstDash val="dash"/>
            <a:round/>
            <a:headEnd type="none" w="med" len="med"/>
            <a:tailEnd type="none" w="med" len="med"/>
          </a:ln>
        </p:spPr>
      </p:cxnSp>
      <p:pic>
        <p:nvPicPr>
          <p:cNvPr id="13" name="Picture 12">
            <a:extLst>
              <a:ext uri="{FF2B5EF4-FFF2-40B4-BE49-F238E27FC236}">
                <a16:creationId xmlns:a16="http://schemas.microsoft.com/office/drawing/2014/main" id="{D8BB5EA1-2A9C-5D21-E861-26C26D2A407B}"/>
              </a:ext>
            </a:extLst>
          </p:cNvPr>
          <p:cNvPicPr>
            <a:picLocks noChangeAspect="1"/>
          </p:cNvPicPr>
          <p:nvPr/>
        </p:nvPicPr>
        <p:blipFill>
          <a:blip r:embed="rId3"/>
          <a:srcRect l="5723" t="12184" r="1513"/>
          <a:stretch>
            <a:fillRect/>
          </a:stretch>
        </p:blipFill>
        <p:spPr>
          <a:xfrm>
            <a:off x="453483" y="1989801"/>
            <a:ext cx="8482361" cy="3047071"/>
          </a:xfrm>
          <a:prstGeom prst="rect">
            <a:avLst/>
          </a:prstGeom>
        </p:spPr>
      </p:pic>
      <p:sp>
        <p:nvSpPr>
          <p:cNvPr id="2" name="Rectangle 1">
            <a:extLst>
              <a:ext uri="{FF2B5EF4-FFF2-40B4-BE49-F238E27FC236}">
                <a16:creationId xmlns:a16="http://schemas.microsoft.com/office/drawing/2014/main" id="{F7A3922E-A411-2E4B-F263-7187F7D73C4E}"/>
              </a:ext>
            </a:extLst>
          </p:cNvPr>
          <p:cNvSpPr/>
          <p:nvPr/>
        </p:nvSpPr>
        <p:spPr>
          <a:xfrm>
            <a:off x="460822" y="569830"/>
            <a:ext cx="4489029" cy="523220"/>
          </a:xfrm>
          <a:prstGeom prst="rect">
            <a:avLst/>
          </a:prstGeom>
          <a:noFill/>
        </p:spPr>
        <p:txBody>
          <a:bodyPr wrap="square" lIns="91440" tIns="45720" rIns="91440" bIns="45720">
            <a:spAutoFit/>
          </a:bodyPr>
          <a:lstStyle/>
          <a:p>
            <a:pPr algn="ctr"/>
            <a:r>
              <a:rPr lang="en-GB" sz="2800" b="1" cap="none" spc="0" dirty="0">
                <a:ln w="0"/>
                <a:solidFill>
                  <a:schemeClr val="tx1"/>
                </a:solidFill>
                <a:effectLst>
                  <a:outerShdw blurRad="38100" dist="19050" dir="2700000" algn="tl" rotWithShape="0">
                    <a:schemeClr val="dk1">
                      <a:alpha val="40000"/>
                    </a:schemeClr>
                  </a:outerShdw>
                </a:effectLst>
              </a:rPr>
              <a:t>Education-Level </a:t>
            </a:r>
            <a:r>
              <a:rPr lang="en-GB" sz="2800" b="1" dirty="0">
                <a:ln w="0"/>
                <a:solidFill>
                  <a:schemeClr val="tx1"/>
                </a:solidFill>
                <a:effectLst>
                  <a:outerShdw blurRad="38100" dist="19050" dir="2700000" algn="tl" rotWithShape="0">
                    <a:schemeClr val="dk1">
                      <a:alpha val="40000"/>
                    </a:schemeClr>
                  </a:outerShdw>
                </a:effectLst>
              </a:rPr>
              <a:t>Count</a:t>
            </a:r>
            <a:endParaRPr lang="en-GB" sz="2800" b="1"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3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10</a:t>
            </a:fld>
            <a:endParaRPr lang="en-GB"/>
          </a:p>
        </p:txBody>
      </p:sp>
      <p:sp>
        <p:nvSpPr>
          <p:cNvPr id="349" name="Google Shape;349;p32"/>
          <p:cNvSpPr txBox="1"/>
          <p:nvPr/>
        </p:nvSpPr>
        <p:spPr>
          <a:xfrm>
            <a:off x="311700" y="3415113"/>
            <a:ext cx="18111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800" dirty="0">
              <a:latin typeface="Assistant"/>
              <a:ea typeface="Assistant"/>
              <a:cs typeface="Assistant"/>
              <a:sym typeface="Assistant"/>
            </a:endParaRPr>
          </a:p>
        </p:txBody>
      </p:sp>
      <p:sp>
        <p:nvSpPr>
          <p:cNvPr id="350" name="Google Shape;350;p32"/>
          <p:cNvSpPr txBox="1"/>
          <p:nvPr/>
        </p:nvSpPr>
        <p:spPr>
          <a:xfrm>
            <a:off x="2546000" y="3415113"/>
            <a:ext cx="748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800" dirty="0">
              <a:latin typeface="Assistant"/>
              <a:ea typeface="Assistant"/>
              <a:cs typeface="Assistant"/>
              <a:sym typeface="Assistant"/>
            </a:endParaRPr>
          </a:p>
        </p:txBody>
      </p:sp>
      <p:sp>
        <p:nvSpPr>
          <p:cNvPr id="351" name="Google Shape;351;p32"/>
          <p:cNvSpPr txBox="1"/>
          <p:nvPr/>
        </p:nvSpPr>
        <p:spPr>
          <a:xfrm>
            <a:off x="3625625" y="3415113"/>
            <a:ext cx="748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800" dirty="0">
              <a:latin typeface="Assistant"/>
              <a:ea typeface="Assistant"/>
              <a:cs typeface="Assistant"/>
              <a:sym typeface="Assistant"/>
            </a:endParaRPr>
          </a:p>
        </p:txBody>
      </p:sp>
      <p:sp>
        <p:nvSpPr>
          <p:cNvPr id="352" name="Google Shape;352;p32"/>
          <p:cNvSpPr txBox="1"/>
          <p:nvPr/>
        </p:nvSpPr>
        <p:spPr>
          <a:xfrm>
            <a:off x="4746099" y="3415113"/>
            <a:ext cx="21345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800" dirty="0">
              <a:latin typeface="Assistant"/>
              <a:ea typeface="Assistant"/>
              <a:cs typeface="Assistant"/>
              <a:sym typeface="Assistant"/>
            </a:endParaRPr>
          </a:p>
        </p:txBody>
      </p:sp>
      <p:pic>
        <p:nvPicPr>
          <p:cNvPr id="6" name="Picture 5">
            <a:extLst>
              <a:ext uri="{FF2B5EF4-FFF2-40B4-BE49-F238E27FC236}">
                <a16:creationId xmlns:a16="http://schemas.microsoft.com/office/drawing/2014/main" id="{8719CB64-A03B-0070-446C-3B853203F274}"/>
              </a:ext>
            </a:extLst>
          </p:cNvPr>
          <p:cNvPicPr>
            <a:picLocks noChangeAspect="1"/>
          </p:cNvPicPr>
          <p:nvPr/>
        </p:nvPicPr>
        <p:blipFill>
          <a:blip r:embed="rId3"/>
          <a:stretch>
            <a:fillRect/>
          </a:stretch>
        </p:blipFill>
        <p:spPr>
          <a:xfrm>
            <a:off x="0" y="1129186"/>
            <a:ext cx="8832300" cy="4014314"/>
          </a:xfrm>
          <a:prstGeom prst="rect">
            <a:avLst/>
          </a:prstGeom>
        </p:spPr>
      </p:pic>
      <p:sp>
        <p:nvSpPr>
          <p:cNvPr id="9" name="Rectangle 8">
            <a:extLst>
              <a:ext uri="{FF2B5EF4-FFF2-40B4-BE49-F238E27FC236}">
                <a16:creationId xmlns:a16="http://schemas.microsoft.com/office/drawing/2014/main" id="{3883FA15-498A-2CAC-F2EE-4DA6FC7A9F9A}"/>
              </a:ext>
            </a:extLst>
          </p:cNvPr>
          <p:cNvSpPr/>
          <p:nvPr/>
        </p:nvSpPr>
        <p:spPr>
          <a:xfrm>
            <a:off x="445708" y="259992"/>
            <a:ext cx="5630140" cy="523220"/>
          </a:xfrm>
          <a:prstGeom prst="rect">
            <a:avLst/>
          </a:prstGeom>
          <a:noFill/>
        </p:spPr>
        <p:txBody>
          <a:bodyPr wrap="square" lIns="91440" tIns="45720" rIns="91440" bIns="45720">
            <a:spAutoFit/>
          </a:bodyPr>
          <a:lstStyle/>
          <a:p>
            <a:pPr algn="ctr"/>
            <a:r>
              <a:rPr lang="en-GB" sz="2800" b="1" cap="none" spc="0" dirty="0">
                <a:ln w="0"/>
                <a:solidFill>
                  <a:schemeClr val="tx1"/>
                </a:solidFill>
                <a:effectLst>
                  <a:outerShdw blurRad="38100" dist="19050" dir="2700000" algn="tl" rotWithShape="0">
                    <a:schemeClr val="dk1">
                      <a:alpha val="40000"/>
                    </a:schemeClr>
                  </a:outerShdw>
                </a:effectLst>
              </a:rPr>
              <a:t>Numerical Features By Labels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4"/>
          <p:cNvSpPr txBox="1">
            <a:spLocks noGrp="1"/>
          </p:cNvSpPr>
          <p:nvPr>
            <p:ph type="title"/>
          </p:nvPr>
        </p:nvSpPr>
        <p:spPr>
          <a:xfrm>
            <a:off x="34045" y="32039"/>
            <a:ext cx="8147100" cy="572700"/>
          </a:xfrm>
          <a:prstGeom prst="rect">
            <a:avLst/>
          </a:prstGeom>
        </p:spPr>
        <p:txBody>
          <a:bodyPr spcFirstLastPara="1" wrap="square" lIns="91425" tIns="91425" rIns="91425" bIns="91425" anchor="ctr" anchorCtr="0">
            <a:normAutofit fontScale="90000"/>
          </a:bodyPr>
          <a:lstStyle/>
          <a:p>
            <a:pPr lvl="0"/>
            <a:r>
              <a:rPr lang="en-GB" dirty="0"/>
              <a:t>Model Comparison</a:t>
            </a:r>
            <a:endParaRPr b="1" dirty="0">
              <a:latin typeface="Assistant"/>
              <a:ea typeface="Assistant"/>
              <a:cs typeface="Assistant"/>
              <a:sym typeface="Assistant"/>
            </a:endParaRPr>
          </a:p>
        </p:txBody>
      </p:sp>
      <p:sp>
        <p:nvSpPr>
          <p:cNvPr id="365" name="Google Shape;365;p3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11</a:t>
            </a:fld>
            <a:endParaRPr lang="en-GB"/>
          </a:p>
        </p:txBody>
      </p:sp>
      <p:sp>
        <p:nvSpPr>
          <p:cNvPr id="366" name="Google Shape;366;p34"/>
          <p:cNvSpPr txBox="1">
            <a:spLocks noGrp="1"/>
          </p:cNvSpPr>
          <p:nvPr>
            <p:ph type="body" idx="1"/>
          </p:nvPr>
        </p:nvSpPr>
        <p:spPr>
          <a:xfrm>
            <a:off x="311700" y="1005850"/>
            <a:ext cx="2679600" cy="3657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endParaRPr lang="en-GB" dirty="0"/>
          </a:p>
        </p:txBody>
      </p:sp>
      <p:sp>
        <p:nvSpPr>
          <p:cNvPr id="367" name="Google Shape;367;p34"/>
          <p:cNvSpPr txBox="1">
            <a:spLocks noGrp="1"/>
          </p:cNvSpPr>
          <p:nvPr>
            <p:ph type="body" idx="2"/>
          </p:nvPr>
        </p:nvSpPr>
        <p:spPr>
          <a:xfrm>
            <a:off x="5950041" y="604739"/>
            <a:ext cx="2679600" cy="3657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b="1"/>
              <a:t>Step 3: adjust the layout </a:t>
            </a:r>
            <a:endParaRPr b="1"/>
          </a:p>
          <a:p>
            <a:pPr marL="0" lvl="0" indent="0" algn="l" rtl="0">
              <a:spcBef>
                <a:spcPts val="1000"/>
              </a:spcBef>
              <a:spcAft>
                <a:spcPts val="1000"/>
              </a:spcAft>
              <a:buNone/>
            </a:pPr>
            <a:r>
              <a:rPr lang="en-GB"/>
              <a:t>Choose a layout from 19 stylings. ‘Title with body’ works quite well.</a:t>
            </a:r>
            <a:br>
              <a:rPr lang="en-GB"/>
            </a:br>
            <a:endParaRPr lang="en-GB"/>
          </a:p>
        </p:txBody>
      </p:sp>
      <p:pic>
        <p:nvPicPr>
          <p:cNvPr id="2" name="Picture 1">
            <a:extLst>
              <a:ext uri="{FF2B5EF4-FFF2-40B4-BE49-F238E27FC236}">
                <a16:creationId xmlns:a16="http://schemas.microsoft.com/office/drawing/2014/main" id="{C63E4400-73E6-838C-B07F-BD9F70F76FDD}"/>
              </a:ext>
            </a:extLst>
          </p:cNvPr>
          <p:cNvPicPr>
            <a:picLocks noChangeAspect="1"/>
          </p:cNvPicPr>
          <p:nvPr/>
        </p:nvPicPr>
        <p:blipFill>
          <a:blip r:embed="rId3"/>
          <a:stretch>
            <a:fillRect/>
          </a:stretch>
        </p:blipFill>
        <p:spPr>
          <a:xfrm>
            <a:off x="34045" y="524733"/>
            <a:ext cx="2957256" cy="3015755"/>
          </a:xfrm>
          <a:prstGeom prst="rect">
            <a:avLst/>
          </a:prstGeom>
        </p:spPr>
      </p:pic>
      <p:pic>
        <p:nvPicPr>
          <p:cNvPr id="4" name="Picture 3">
            <a:extLst>
              <a:ext uri="{FF2B5EF4-FFF2-40B4-BE49-F238E27FC236}">
                <a16:creationId xmlns:a16="http://schemas.microsoft.com/office/drawing/2014/main" id="{B21E262D-DEF2-EF0F-1619-B88513844B31}"/>
              </a:ext>
            </a:extLst>
          </p:cNvPr>
          <p:cNvPicPr>
            <a:picLocks noChangeAspect="1"/>
          </p:cNvPicPr>
          <p:nvPr/>
        </p:nvPicPr>
        <p:blipFill>
          <a:blip r:embed="rId4"/>
          <a:stretch>
            <a:fillRect/>
          </a:stretch>
        </p:blipFill>
        <p:spPr>
          <a:xfrm>
            <a:off x="34045" y="3540487"/>
            <a:ext cx="2957256" cy="1603013"/>
          </a:xfrm>
          <a:prstGeom prst="rect">
            <a:avLst/>
          </a:prstGeom>
        </p:spPr>
      </p:pic>
      <p:sp>
        <p:nvSpPr>
          <p:cNvPr id="6" name="Text Placeholder 5">
            <a:extLst>
              <a:ext uri="{FF2B5EF4-FFF2-40B4-BE49-F238E27FC236}">
                <a16:creationId xmlns:a16="http://schemas.microsoft.com/office/drawing/2014/main" id="{373D8291-E1EA-B5A4-BA36-12788E519F22}"/>
              </a:ext>
            </a:extLst>
          </p:cNvPr>
          <p:cNvSpPr>
            <a:spLocks noGrp="1"/>
          </p:cNvSpPr>
          <p:nvPr>
            <p:ph type="body" idx="3"/>
          </p:nvPr>
        </p:nvSpPr>
        <p:spPr>
          <a:xfrm>
            <a:off x="3102957" y="604739"/>
            <a:ext cx="2679600" cy="3657300"/>
          </a:xfrm>
        </p:spPr>
        <p:txBody>
          <a:bodyPr/>
          <a:lstStyle/>
          <a:p>
            <a:endParaRPr lang="en-DE" dirty="0"/>
          </a:p>
        </p:txBody>
      </p:sp>
      <p:pic>
        <p:nvPicPr>
          <p:cNvPr id="7" name="Picture 6">
            <a:extLst>
              <a:ext uri="{FF2B5EF4-FFF2-40B4-BE49-F238E27FC236}">
                <a16:creationId xmlns:a16="http://schemas.microsoft.com/office/drawing/2014/main" id="{E8E946DE-4F59-7FF2-D76D-B21E8AE11E1D}"/>
              </a:ext>
            </a:extLst>
          </p:cNvPr>
          <p:cNvPicPr>
            <a:picLocks noChangeAspect="1"/>
          </p:cNvPicPr>
          <p:nvPr/>
        </p:nvPicPr>
        <p:blipFill>
          <a:blip r:embed="rId5"/>
          <a:stretch>
            <a:fillRect/>
          </a:stretch>
        </p:blipFill>
        <p:spPr>
          <a:xfrm>
            <a:off x="3047128" y="489108"/>
            <a:ext cx="2791257" cy="3087004"/>
          </a:xfrm>
          <a:prstGeom prst="rect">
            <a:avLst/>
          </a:prstGeom>
        </p:spPr>
      </p:pic>
      <p:pic>
        <p:nvPicPr>
          <p:cNvPr id="9" name="Picture 8">
            <a:extLst>
              <a:ext uri="{FF2B5EF4-FFF2-40B4-BE49-F238E27FC236}">
                <a16:creationId xmlns:a16="http://schemas.microsoft.com/office/drawing/2014/main" id="{1D8EBAAE-ECE3-6D59-BFDD-7A5E161B7476}"/>
              </a:ext>
            </a:extLst>
          </p:cNvPr>
          <p:cNvPicPr>
            <a:picLocks noChangeAspect="1"/>
          </p:cNvPicPr>
          <p:nvPr/>
        </p:nvPicPr>
        <p:blipFill>
          <a:blip r:embed="rId6"/>
          <a:stretch>
            <a:fillRect/>
          </a:stretch>
        </p:blipFill>
        <p:spPr>
          <a:xfrm>
            <a:off x="3102958" y="3546984"/>
            <a:ext cx="2847084" cy="1517277"/>
          </a:xfrm>
          <a:prstGeom prst="rect">
            <a:avLst/>
          </a:prstGeom>
        </p:spPr>
      </p:pic>
      <p:pic>
        <p:nvPicPr>
          <p:cNvPr id="11" name="Picture 10">
            <a:extLst>
              <a:ext uri="{FF2B5EF4-FFF2-40B4-BE49-F238E27FC236}">
                <a16:creationId xmlns:a16="http://schemas.microsoft.com/office/drawing/2014/main" id="{81B96EDF-C9CB-1099-C35E-078E82EF7313}"/>
              </a:ext>
            </a:extLst>
          </p:cNvPr>
          <p:cNvPicPr>
            <a:picLocks noChangeAspect="1"/>
          </p:cNvPicPr>
          <p:nvPr/>
        </p:nvPicPr>
        <p:blipFill>
          <a:blip r:embed="rId7"/>
          <a:stretch>
            <a:fillRect/>
          </a:stretch>
        </p:blipFill>
        <p:spPr>
          <a:xfrm>
            <a:off x="5969967" y="540613"/>
            <a:ext cx="2639747" cy="2072820"/>
          </a:xfrm>
          <a:prstGeom prst="rect">
            <a:avLst/>
          </a:prstGeom>
        </p:spPr>
      </p:pic>
      <p:pic>
        <p:nvPicPr>
          <p:cNvPr id="13" name="Picture 12">
            <a:extLst>
              <a:ext uri="{FF2B5EF4-FFF2-40B4-BE49-F238E27FC236}">
                <a16:creationId xmlns:a16="http://schemas.microsoft.com/office/drawing/2014/main" id="{DD47C53A-F2C1-F291-1C77-C2C81B8B928F}"/>
              </a:ext>
            </a:extLst>
          </p:cNvPr>
          <p:cNvPicPr>
            <a:picLocks noChangeAspect="1"/>
          </p:cNvPicPr>
          <p:nvPr/>
        </p:nvPicPr>
        <p:blipFill>
          <a:blip r:embed="rId8"/>
          <a:stretch>
            <a:fillRect/>
          </a:stretch>
        </p:blipFill>
        <p:spPr>
          <a:xfrm>
            <a:off x="5950041" y="1452254"/>
            <a:ext cx="2516572" cy="1918179"/>
          </a:xfrm>
          <a:prstGeom prst="rect">
            <a:avLst/>
          </a:prstGeom>
        </p:spPr>
      </p:pic>
      <p:pic>
        <p:nvPicPr>
          <p:cNvPr id="15" name="Picture 14">
            <a:extLst>
              <a:ext uri="{FF2B5EF4-FFF2-40B4-BE49-F238E27FC236}">
                <a16:creationId xmlns:a16="http://schemas.microsoft.com/office/drawing/2014/main" id="{35F14D21-B697-0306-01A2-ECD24F87560B}"/>
              </a:ext>
            </a:extLst>
          </p:cNvPr>
          <p:cNvPicPr>
            <a:picLocks noChangeAspect="1"/>
          </p:cNvPicPr>
          <p:nvPr/>
        </p:nvPicPr>
        <p:blipFill>
          <a:blip r:embed="rId9"/>
          <a:stretch>
            <a:fillRect/>
          </a:stretch>
        </p:blipFill>
        <p:spPr>
          <a:xfrm>
            <a:off x="5950041" y="3370433"/>
            <a:ext cx="3193959" cy="17410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8" name="Google Shape;488;p4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12</a:t>
            </a:fld>
            <a:endParaRPr lang="en-GB"/>
          </a:p>
        </p:txBody>
      </p:sp>
      <p:pic>
        <p:nvPicPr>
          <p:cNvPr id="489" name="Google Shape;489;p46"/>
          <p:cNvPicPr preferRelativeResize="0"/>
          <p:nvPr/>
        </p:nvPicPr>
        <p:blipFill>
          <a:blip r:embed="rId3"/>
          <a:stretch>
            <a:fillRect/>
          </a:stretch>
        </p:blipFill>
        <p:spPr>
          <a:xfrm>
            <a:off x="7601925" y="3354500"/>
            <a:ext cx="1170774" cy="1242950"/>
          </a:xfrm>
          <a:prstGeom prst="rect">
            <a:avLst/>
          </a:prstGeom>
          <a:noFill/>
          <a:ln>
            <a:noFill/>
          </a:ln>
        </p:spPr>
      </p:pic>
      <p:pic>
        <p:nvPicPr>
          <p:cNvPr id="3" name="Picture 2">
            <a:extLst>
              <a:ext uri="{FF2B5EF4-FFF2-40B4-BE49-F238E27FC236}">
                <a16:creationId xmlns:a16="http://schemas.microsoft.com/office/drawing/2014/main" id="{44537BC5-0CDA-3E1A-D52A-F8550A8936D6}"/>
              </a:ext>
            </a:extLst>
          </p:cNvPr>
          <p:cNvPicPr>
            <a:picLocks noChangeAspect="1"/>
          </p:cNvPicPr>
          <p:nvPr/>
        </p:nvPicPr>
        <p:blipFill>
          <a:blip r:embed="rId4"/>
          <a:srcRect t="6875" r="1967"/>
          <a:stretch>
            <a:fillRect/>
          </a:stretch>
        </p:blipFill>
        <p:spPr>
          <a:xfrm>
            <a:off x="311687" y="581462"/>
            <a:ext cx="4302705" cy="4562038"/>
          </a:xfrm>
          <a:prstGeom prst="rect">
            <a:avLst/>
          </a:prstGeom>
        </p:spPr>
      </p:pic>
      <p:pic>
        <p:nvPicPr>
          <p:cNvPr id="6" name="Picture 5">
            <a:extLst>
              <a:ext uri="{FF2B5EF4-FFF2-40B4-BE49-F238E27FC236}">
                <a16:creationId xmlns:a16="http://schemas.microsoft.com/office/drawing/2014/main" id="{85D42B24-0A84-DFB9-EC9D-146B02FB6F3F}"/>
              </a:ext>
            </a:extLst>
          </p:cNvPr>
          <p:cNvPicPr>
            <a:picLocks noChangeAspect="1"/>
          </p:cNvPicPr>
          <p:nvPr/>
        </p:nvPicPr>
        <p:blipFill>
          <a:blip r:embed="rId5"/>
          <a:stretch>
            <a:fillRect/>
          </a:stretch>
        </p:blipFill>
        <p:spPr>
          <a:xfrm>
            <a:off x="4614392" y="3210031"/>
            <a:ext cx="2859506" cy="1933469"/>
          </a:xfrm>
          <a:prstGeom prst="rect">
            <a:avLst/>
          </a:prstGeom>
        </p:spPr>
      </p:pic>
      <p:sp>
        <p:nvSpPr>
          <p:cNvPr id="8" name="Title 7">
            <a:extLst>
              <a:ext uri="{FF2B5EF4-FFF2-40B4-BE49-F238E27FC236}">
                <a16:creationId xmlns:a16="http://schemas.microsoft.com/office/drawing/2014/main" id="{179AE8A1-7BB8-79EF-E8B5-194B8064DDB0}"/>
              </a:ext>
            </a:extLst>
          </p:cNvPr>
          <p:cNvSpPr>
            <a:spLocks noGrp="1"/>
          </p:cNvSpPr>
          <p:nvPr>
            <p:ph type="title"/>
          </p:nvPr>
        </p:nvSpPr>
        <p:spPr>
          <a:xfrm>
            <a:off x="269295" y="192576"/>
            <a:ext cx="5157092" cy="572700"/>
          </a:xfrm>
        </p:spPr>
        <p:txBody>
          <a:bodyPr>
            <a:normAutofit fontScale="90000"/>
          </a:bodyPr>
          <a:lstStyle/>
          <a:p>
            <a:r>
              <a:rPr lang="en-GB" dirty="0"/>
              <a:t>Best Model</a:t>
            </a:r>
            <a:endParaRPr lang="en-DE" dirty="0"/>
          </a:p>
        </p:txBody>
      </p:sp>
      <p:pic>
        <p:nvPicPr>
          <p:cNvPr id="10" name="Picture 9">
            <a:extLst>
              <a:ext uri="{FF2B5EF4-FFF2-40B4-BE49-F238E27FC236}">
                <a16:creationId xmlns:a16="http://schemas.microsoft.com/office/drawing/2014/main" id="{0D1CEEB4-3203-A4C9-361B-0405AB0DCF17}"/>
              </a:ext>
            </a:extLst>
          </p:cNvPr>
          <p:cNvPicPr>
            <a:picLocks noChangeAspect="1"/>
          </p:cNvPicPr>
          <p:nvPr/>
        </p:nvPicPr>
        <p:blipFill>
          <a:blip r:embed="rId6"/>
          <a:stretch>
            <a:fillRect/>
          </a:stretch>
        </p:blipFill>
        <p:spPr>
          <a:xfrm>
            <a:off x="4463118" y="663830"/>
            <a:ext cx="4003495" cy="24635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B4FA-C70B-E855-CE5B-5A9CDCE67B0E}"/>
              </a:ext>
            </a:extLst>
          </p:cNvPr>
          <p:cNvSpPr>
            <a:spLocks noGrp="1"/>
          </p:cNvSpPr>
          <p:nvPr>
            <p:ph type="title"/>
          </p:nvPr>
        </p:nvSpPr>
        <p:spPr/>
        <p:txBody>
          <a:bodyPr>
            <a:normAutofit fontScale="90000"/>
          </a:bodyPr>
          <a:lstStyle/>
          <a:p>
            <a:r>
              <a:rPr lang="en-GB" dirty="0"/>
              <a:t>AUC Curve Comparison</a:t>
            </a:r>
            <a:endParaRPr lang="en-DE" dirty="0"/>
          </a:p>
        </p:txBody>
      </p:sp>
      <p:sp>
        <p:nvSpPr>
          <p:cNvPr id="3" name="Text Placeholder 2">
            <a:extLst>
              <a:ext uri="{FF2B5EF4-FFF2-40B4-BE49-F238E27FC236}">
                <a16:creationId xmlns:a16="http://schemas.microsoft.com/office/drawing/2014/main" id="{16E5DD32-CC2C-C275-3ABE-757677C0A95C}"/>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8C6EB6C5-D131-9C7E-EF0F-7FABF7DBD976}"/>
              </a:ext>
            </a:extLst>
          </p:cNvPr>
          <p:cNvSpPr>
            <a:spLocks noGrp="1"/>
          </p:cNvSpPr>
          <p:nvPr>
            <p:ph type="sldNum" idx="12"/>
          </p:nvPr>
        </p:nvSpPr>
        <p:spPr/>
        <p:txBody>
          <a:bodyPr>
            <a:normAutofit fontScale="92500" lnSpcReduction="20000"/>
          </a:bodyPr>
          <a:lstStyle/>
          <a:p>
            <a:pPr marL="0" lvl="0" indent="0" algn="r" rtl="0">
              <a:spcBef>
                <a:spcPts val="0"/>
              </a:spcBef>
              <a:spcAft>
                <a:spcPts val="0"/>
              </a:spcAft>
              <a:buNone/>
            </a:pPr>
            <a:fld id="{00000000-1234-1234-1234-123412341234}" type="slidenum">
              <a:rPr lang="en-GB" smtClean="0"/>
              <a:t>13</a:t>
            </a:fld>
            <a:endParaRPr lang="en-GB"/>
          </a:p>
        </p:txBody>
      </p:sp>
      <p:sp>
        <p:nvSpPr>
          <p:cNvPr id="5" name="Text Placeholder 4">
            <a:extLst>
              <a:ext uri="{FF2B5EF4-FFF2-40B4-BE49-F238E27FC236}">
                <a16:creationId xmlns:a16="http://schemas.microsoft.com/office/drawing/2014/main" id="{C2A53F97-8A09-7855-BC1F-F02ED3CA9471}"/>
              </a:ext>
            </a:extLst>
          </p:cNvPr>
          <p:cNvSpPr>
            <a:spLocks noGrp="1"/>
          </p:cNvSpPr>
          <p:nvPr>
            <p:ph type="body" idx="2"/>
          </p:nvPr>
        </p:nvSpPr>
        <p:spPr/>
        <p:txBody>
          <a:bodyPr>
            <a:normAutofit fontScale="77500" lnSpcReduction="20000"/>
          </a:bodyPr>
          <a:lstStyle/>
          <a:p>
            <a:r>
              <a:rPr lang="en-DE" dirty="0"/>
              <a:t>Two of the three models — </a:t>
            </a:r>
            <a:r>
              <a:rPr lang="en-DE" b="1" dirty="0"/>
              <a:t>Random Forest</a:t>
            </a:r>
            <a:r>
              <a:rPr lang="en-DE" dirty="0"/>
              <a:t> and </a:t>
            </a:r>
            <a:r>
              <a:rPr lang="en-DE" b="1" dirty="0"/>
              <a:t>Gradient Boosting</a:t>
            </a:r>
            <a:r>
              <a:rPr lang="en-DE" dirty="0"/>
              <a:t> — perform excellently, scoring </a:t>
            </a:r>
            <a:r>
              <a:rPr lang="en-DE" b="1" dirty="0"/>
              <a:t>97-98 out of 100</a:t>
            </a:r>
            <a:r>
              <a:rPr lang="en-DE" dirty="0"/>
              <a:t> on our overall accuracy scale (technically called "AUC", but think of it as a percentage score). </a:t>
            </a:r>
            <a:endParaRPr lang="en-GB" dirty="0"/>
          </a:p>
          <a:p>
            <a:endParaRPr lang="en-GB" dirty="0"/>
          </a:p>
          <a:p>
            <a:pPr marL="139700" indent="0">
              <a:buNone/>
            </a:pPr>
            <a:endParaRPr lang="en-GB" dirty="0"/>
          </a:p>
          <a:p>
            <a:r>
              <a:rPr lang="en-DE" dirty="0"/>
              <a:t>The third model, </a:t>
            </a:r>
            <a:r>
              <a:rPr lang="en-DE" b="1" dirty="0"/>
              <a:t>Decision Tree</a:t>
            </a:r>
            <a:r>
              <a:rPr lang="en-DE" dirty="0"/>
              <a:t>, lags noticeably behind at </a:t>
            </a:r>
            <a:r>
              <a:rPr lang="en-DE" b="1" dirty="0"/>
              <a:t>81 out of 100</a:t>
            </a:r>
            <a:r>
              <a:rPr lang="en-DE" dirty="0"/>
              <a:t>.</a:t>
            </a:r>
          </a:p>
          <a:p>
            <a:r>
              <a:rPr lang="en-DE" dirty="0"/>
              <a:t>In practical terms: if we deployed Random Forest or Gradient Boosting, the model would almost always correctly sort applicants into the right category. If we used Decision Tree, it would get things right most of the time, but would make noticeably more mistakes — especially for borderline cases.</a:t>
            </a:r>
          </a:p>
          <a:p>
            <a:endParaRPr lang="en-DE" dirty="0"/>
          </a:p>
        </p:txBody>
      </p:sp>
      <p:sp>
        <p:nvSpPr>
          <p:cNvPr id="6" name="Text Placeholder 5">
            <a:extLst>
              <a:ext uri="{FF2B5EF4-FFF2-40B4-BE49-F238E27FC236}">
                <a16:creationId xmlns:a16="http://schemas.microsoft.com/office/drawing/2014/main" id="{B7B94230-9CE4-1709-DE6D-6AABFFB2EA6F}"/>
              </a:ext>
            </a:extLst>
          </p:cNvPr>
          <p:cNvSpPr>
            <a:spLocks noGrp="1"/>
          </p:cNvSpPr>
          <p:nvPr>
            <p:ph type="body" idx="3"/>
          </p:nvPr>
        </p:nvSpPr>
        <p:spPr/>
        <p:txBody>
          <a:bodyPr/>
          <a:lstStyle/>
          <a:p>
            <a:endParaRPr lang="en-DE"/>
          </a:p>
        </p:txBody>
      </p:sp>
      <p:pic>
        <p:nvPicPr>
          <p:cNvPr id="7" name="Picture 6">
            <a:extLst>
              <a:ext uri="{FF2B5EF4-FFF2-40B4-BE49-F238E27FC236}">
                <a16:creationId xmlns:a16="http://schemas.microsoft.com/office/drawing/2014/main" id="{8D3C2798-77C4-9EF0-61CF-A2C0F1141703}"/>
              </a:ext>
            </a:extLst>
          </p:cNvPr>
          <p:cNvPicPr>
            <a:picLocks noChangeAspect="1"/>
          </p:cNvPicPr>
          <p:nvPr/>
        </p:nvPicPr>
        <p:blipFill>
          <a:blip r:embed="rId2"/>
          <a:stretch>
            <a:fillRect/>
          </a:stretch>
        </p:blipFill>
        <p:spPr>
          <a:xfrm>
            <a:off x="244056" y="940766"/>
            <a:ext cx="5667743" cy="3787468"/>
          </a:xfrm>
          <a:prstGeom prst="rect">
            <a:avLst/>
          </a:prstGeom>
        </p:spPr>
      </p:pic>
    </p:spTree>
    <p:extLst>
      <p:ext uri="{BB962C8B-B14F-4D97-AF65-F5344CB8AC3E}">
        <p14:creationId xmlns:p14="http://schemas.microsoft.com/office/powerpoint/2010/main" val="1181398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3"/>
          <p:cNvSpPr txBox="1">
            <a:spLocks noGrp="1"/>
          </p:cNvSpPr>
          <p:nvPr>
            <p:ph type="title"/>
          </p:nvPr>
        </p:nvSpPr>
        <p:spPr>
          <a:xfrm>
            <a:off x="128863" y="106628"/>
            <a:ext cx="8520600" cy="841800"/>
          </a:xfrm>
          <a:prstGeom prst="rect">
            <a:avLst/>
          </a:prstGeom>
        </p:spPr>
        <p:txBody>
          <a:bodyPr spcFirstLastPara="1" wrap="square" lIns="91425" tIns="91425" rIns="91425" bIns="91425" anchor="ctr" anchorCtr="0">
            <a:normAutofit/>
          </a:bodyPr>
          <a:lstStyle/>
          <a:p>
            <a:pPr lvl="0"/>
            <a:r>
              <a:rPr lang="en-GB" dirty="0" err="1"/>
              <a:t>Auc</a:t>
            </a:r>
            <a:r>
              <a:rPr lang="en-GB" dirty="0"/>
              <a:t> Curve Comparison </a:t>
            </a:r>
            <a:endParaRPr b="1" dirty="0">
              <a:latin typeface="Assistant"/>
              <a:ea typeface="Assistant"/>
              <a:cs typeface="Assistant"/>
              <a:sym typeface="Assistant"/>
            </a:endParaRPr>
          </a:p>
        </p:txBody>
      </p:sp>
      <p:sp>
        <p:nvSpPr>
          <p:cNvPr id="359" name="Google Shape;359;p3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14</a:t>
            </a:fld>
            <a:endParaRPr lang="en-GB"/>
          </a:p>
        </p:txBody>
      </p:sp>
      <p:pic>
        <p:nvPicPr>
          <p:cNvPr id="3" name="Picture 2">
            <a:extLst>
              <a:ext uri="{FF2B5EF4-FFF2-40B4-BE49-F238E27FC236}">
                <a16:creationId xmlns:a16="http://schemas.microsoft.com/office/drawing/2014/main" id="{3BF3D85F-057D-A091-4D6A-91DFC68BC77D}"/>
              </a:ext>
            </a:extLst>
          </p:cNvPr>
          <p:cNvPicPr>
            <a:picLocks noChangeAspect="1"/>
          </p:cNvPicPr>
          <p:nvPr/>
        </p:nvPicPr>
        <p:blipFill>
          <a:blip r:embed="rId3"/>
          <a:stretch>
            <a:fillRect/>
          </a:stretch>
        </p:blipFill>
        <p:spPr>
          <a:xfrm>
            <a:off x="128863" y="812558"/>
            <a:ext cx="8729758" cy="2710959"/>
          </a:xfrm>
          <a:prstGeom prst="rect">
            <a:avLst/>
          </a:prstGeom>
        </p:spPr>
      </p:pic>
      <p:sp>
        <p:nvSpPr>
          <p:cNvPr id="5" name="TextBox 4">
            <a:extLst>
              <a:ext uri="{FF2B5EF4-FFF2-40B4-BE49-F238E27FC236}">
                <a16:creationId xmlns:a16="http://schemas.microsoft.com/office/drawing/2014/main" id="{9F56C9B0-499F-5D1C-69F8-E988CB8DAF21}"/>
              </a:ext>
            </a:extLst>
          </p:cNvPr>
          <p:cNvSpPr txBox="1"/>
          <p:nvPr/>
        </p:nvSpPr>
        <p:spPr>
          <a:xfrm>
            <a:off x="0" y="3543062"/>
            <a:ext cx="9144000" cy="1600438"/>
          </a:xfrm>
          <a:prstGeom prst="rect">
            <a:avLst/>
          </a:prstGeom>
          <a:solidFill>
            <a:schemeClr val="accent2">
              <a:lumMod val="40000"/>
              <a:lumOff val="60000"/>
            </a:schemeClr>
          </a:solidFill>
        </p:spPr>
        <p:txBody>
          <a:bodyPr wrap="square">
            <a:spAutoFit/>
          </a:bodyPr>
          <a:lstStyle/>
          <a:p>
            <a:pPr>
              <a:buNone/>
            </a:pPr>
            <a:r>
              <a:rPr lang="en-DE" dirty="0"/>
              <a:t>For </a:t>
            </a:r>
            <a:r>
              <a:rPr lang="en-DE" b="1" dirty="0"/>
              <a:t>"Best Suited for Role"</a:t>
            </a:r>
            <a:r>
              <a:rPr lang="en-DE" dirty="0"/>
              <a:t> — all three models do very well here, with Random Forest and Gradient Boosting scoring nearly perfectly (99-100 out of 100). Even Decision Tree does reasonably well (88 out of 100) on this category.</a:t>
            </a:r>
          </a:p>
          <a:p>
            <a:pPr>
              <a:buNone/>
            </a:pPr>
            <a:r>
              <a:rPr lang="en-DE" dirty="0"/>
              <a:t>For </a:t>
            </a:r>
            <a:r>
              <a:rPr lang="en-DE" b="1" dirty="0"/>
              <a:t>"Will Get Interview"</a:t>
            </a:r>
            <a:r>
              <a:rPr lang="en-DE" dirty="0"/>
              <a:t> — Random Forest and Gradient Boosting again score excellently (98-99 out of 100), while Decision Tree drops to 80 out of 100.</a:t>
            </a:r>
          </a:p>
          <a:p>
            <a:pPr>
              <a:buNone/>
            </a:pPr>
            <a:r>
              <a:rPr lang="en-DE" dirty="0"/>
              <a:t>For </a:t>
            </a:r>
            <a:r>
              <a:rPr lang="en-DE" b="1" dirty="0"/>
              <a:t>"Best Match for Role"</a:t>
            </a:r>
            <a:r>
              <a:rPr lang="en-DE" dirty="0"/>
              <a:t> — this is the hardest category for every model. Random Forest and Gradient Boosting still perform well (93-95 out of 100), but Decision Tree drops significantly to 75 out of 100.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6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GB"/>
              <a:t>15</a:t>
            </a:fld>
            <a:endParaRPr lang="en-GB"/>
          </a:p>
        </p:txBody>
      </p:sp>
      <p:sp>
        <p:nvSpPr>
          <p:cNvPr id="662" name="Google Shape;662;p62"/>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Thanks a lot!</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3137</TotalTime>
  <Words>435</Words>
  <Application>Microsoft Office PowerPoint</Application>
  <PresentationFormat>On-screen Show (16:9)</PresentationFormat>
  <Paragraphs>42</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Assistant</vt:lpstr>
      <vt:lpstr>Arial</vt:lpstr>
      <vt:lpstr>Simple Light</vt:lpstr>
      <vt:lpstr>Model Prediction for Applicant Job Status</vt:lpstr>
      <vt:lpstr>PowerPoint Presentation</vt:lpstr>
      <vt:lpstr>PowerPoint Presentation</vt:lpstr>
      <vt:lpstr>PowerPoint Presentation</vt:lpstr>
      <vt:lpstr>PowerPoint Presentation</vt:lpstr>
      <vt:lpstr>PowerPoint Presentation</vt:lpstr>
      <vt:lpstr>PowerPoint Presentation</vt:lpstr>
      <vt:lpstr>Label Distribution</vt:lpstr>
      <vt:lpstr>PowerPoint Presentation</vt:lpstr>
      <vt:lpstr>PowerPoint Presentation</vt:lpstr>
      <vt:lpstr>Model Comparison</vt:lpstr>
      <vt:lpstr>Best Model</vt:lpstr>
      <vt:lpstr>AUC Curve Comparison</vt:lpstr>
      <vt:lpstr>Auc Curve Comparison </vt:lpstr>
      <vt:lpstr>Thanks a lot!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ReDI slide template</dc:title>
  <dc:creator>philip ibingha</dc:creator>
  <cp:lastModifiedBy>Ngozika Stella Ugwunwa</cp:lastModifiedBy>
  <cp:revision>8</cp:revision>
  <dcterms:created xsi:type="dcterms:W3CDTF">2026-06-13T12:36:20Z</dcterms:created>
  <dcterms:modified xsi:type="dcterms:W3CDTF">2026-06-15T17:24:36Z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3AB110755FFA4F32B13DD069ADD090C5_13</vt:lpwstr>
  </property>
  <property fmtid="{D5CDD505-2E9C-101B-9397-08002B2CF9AE}" pid="3" name="KSOProductBuildVer">
    <vt:lpwstr>1033-12.1.0.26880</vt:lpwstr>
  </property>
</Properties>
</file>